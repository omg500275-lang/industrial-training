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725C32-0121-4063-B386-4932E9474330}" v="38" dt="2026-06-16T14:37:22.846"/>
    <p1510:client id="{DD6313F4-70C4-D26F-274A-B098D1A90E04}" v="103" dt="2026-06-17T04:32:45.7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pPr>
              <a:buNone/>
            </a:pPr>
            <a:r>
              <a:t>1. What is a conditional statement in programming?</a:t>
            </a:r>
            <a:endParaRPr lang="en-US"/>
          </a:p>
          <a:p>
            <a:pPr>
              <a:buNone/>
            </a:pPr>
            <a:r>
              <a:rPr lang="en-IN">
                <a:solidFill>
                  <a:srgbClr val="00B0F0"/>
                </a:solidFill>
                <a:ea typeface="+mn-lt"/>
                <a:cs typeface="+mn-lt"/>
              </a:rPr>
              <a:t>A </a:t>
            </a:r>
            <a:r>
              <a:rPr lang="en-IN" b="1">
                <a:solidFill>
                  <a:srgbClr val="00B0F0"/>
                </a:solidFill>
                <a:ea typeface="+mn-lt"/>
                <a:cs typeface="+mn-lt"/>
              </a:rPr>
              <a:t>conditional statement</a:t>
            </a:r>
            <a:r>
              <a:rPr lang="en-IN">
                <a:solidFill>
                  <a:srgbClr val="00B0F0"/>
                </a:solidFill>
                <a:ea typeface="+mn-lt"/>
                <a:cs typeface="+mn-lt"/>
              </a:rPr>
              <a:t> in programming is a decision-making statement that executes different blocks of code depending on whether a condition is </a:t>
            </a:r>
            <a:r>
              <a:rPr lang="en-IN" b="1">
                <a:solidFill>
                  <a:srgbClr val="00B0F0"/>
                </a:solidFill>
                <a:ea typeface="+mn-lt"/>
                <a:cs typeface="+mn-lt"/>
              </a:rPr>
              <a:t>true</a:t>
            </a:r>
            <a:r>
              <a:rPr lang="en-IN">
                <a:solidFill>
                  <a:srgbClr val="00B0F0"/>
                </a:solidFill>
                <a:ea typeface="+mn-lt"/>
                <a:cs typeface="+mn-lt"/>
              </a:rPr>
              <a:t> or </a:t>
            </a:r>
            <a:r>
              <a:rPr lang="en-IN" b="1">
                <a:solidFill>
                  <a:srgbClr val="00B0F0"/>
                </a:solidFill>
                <a:ea typeface="+mn-lt"/>
                <a:cs typeface="+mn-lt"/>
              </a:rPr>
              <a:t>false</a:t>
            </a:r>
            <a:r>
              <a:rPr lang="en-IN">
                <a:solidFill>
                  <a:srgbClr val="00B0F0"/>
                </a:solidFill>
                <a:ea typeface="+mn-lt"/>
                <a:cs typeface="+mn-lt"/>
              </a:rPr>
              <a:t>.</a:t>
            </a:r>
            <a:endParaRPr lang="en-IN"/>
          </a:p>
          <a:p>
            <a:pPr>
              <a:buNone/>
            </a:pPr>
            <a:r>
              <a:rPr lang="en-IN"/>
              <a:t>Definition</a:t>
            </a:r>
          </a:p>
          <a:p>
            <a:pPr>
              <a:buNone/>
            </a:pPr>
            <a:r>
              <a:rPr lang="en-IN">
                <a:solidFill>
                  <a:srgbClr val="00B0F0"/>
                </a:solidFill>
                <a:ea typeface="+mn-lt"/>
                <a:cs typeface="+mn-lt"/>
              </a:rPr>
              <a:t>A conditional statement checks a condition and performs an action based on the result.</a:t>
            </a:r>
            <a:endParaRPr lang="en-IN"/>
          </a:p>
          <a:p>
            <a:pPr>
              <a:buNone/>
            </a:pPr>
            <a:r>
              <a:rPr lang="en-IN"/>
              <a:t>Example</a:t>
            </a:r>
          </a:p>
          <a:p>
            <a:pPr>
              <a:buNone/>
            </a:pPr>
            <a:r>
              <a:rPr lang="en-IN">
                <a:solidFill>
                  <a:srgbClr val="00B0F0"/>
                </a:solidFill>
                <a:ea typeface="+mn-lt"/>
                <a:cs typeface="+mn-lt"/>
              </a:rPr>
              <a:t>If a student's marks are greater than or equal to 40, the student passes; otherwise, the student fails.</a:t>
            </a:r>
            <a:endParaRPr lang="en-IN"/>
          </a:p>
          <a:p>
            <a:pPr>
              <a:buNone/>
            </a:pPr>
            <a:endParaRPr lang="en-IN">
              <a:solidFill>
                <a:srgbClr val="00B0F0"/>
              </a:solidFill>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 What does an if statement do?</a:t>
            </a:r>
            <a:endParaRPr lang="en-US">
              <a:solidFill>
                <a:schemeClr val="accent4">
                  <a:lumMod val="60000"/>
                  <a:lumOff val="40000"/>
                </a:schemeClr>
              </a:solidFill>
            </a:endParaRPr>
          </a:p>
          <a:p>
            <a:r>
              <a:rPr lang="en-IN">
                <a:solidFill>
                  <a:srgbClr val="00B0F0"/>
                </a:solidFill>
              </a:rPr>
              <a:t>It is a </a:t>
            </a:r>
            <a:r>
              <a:rPr lang="en-IN" err="1">
                <a:solidFill>
                  <a:srgbClr val="00B0F0"/>
                </a:solidFill>
              </a:rPr>
              <a:t>decision making</a:t>
            </a:r>
            <a:r>
              <a:rPr lang="en-IN">
                <a:solidFill>
                  <a:srgbClr val="00B0F0"/>
                </a:solidFill>
              </a:rPr>
              <a:t> statement in c/</a:t>
            </a:r>
            <a:r>
              <a:rPr lang="en-IN" err="1">
                <a:solidFill>
                  <a:srgbClr val="00B0F0"/>
                </a:solidFill>
              </a:rPr>
              <a:t>c++</a:t>
            </a:r>
            <a:r>
              <a:rPr lang="en-IN">
                <a:solidFill>
                  <a:srgbClr val="00B0F0"/>
                </a:solidFill>
              </a:rPr>
              <a:t> that checks whether a condition is true or false.</a:t>
            </a:r>
            <a:endParaRPr lang="en-US">
              <a:solidFill>
                <a:srgbClr val="00B0F0"/>
              </a:solidFill>
              <a:ea typeface="Calibri"/>
              <a:cs typeface="Calibri"/>
            </a:endParaRPr>
          </a:p>
          <a:p>
            <a:endParaRPr>
              <a:solidFill>
                <a:srgbClr val="00B0F0"/>
              </a:solidFill>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 What is the purpose of an else block?</a:t>
            </a:r>
            <a:endParaRPr lang="en-US">
              <a:solidFill>
                <a:schemeClr val="accent4">
                  <a:lumMod val="60000"/>
                  <a:lumOff val="40000"/>
                </a:schemeClr>
              </a:solidFill>
            </a:endParaRPr>
          </a:p>
          <a:p>
            <a:r>
              <a:rPr lang="en-IN">
                <a:solidFill>
                  <a:srgbClr val="00B0F0"/>
                </a:solidFill>
              </a:rPr>
              <a:t>The else block is used to execute the block of code when the condition is false.</a:t>
            </a:r>
            <a:endParaRPr>
              <a:solidFill>
                <a:srgbClr val="00B0F0"/>
              </a:solidFill>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4. When is an else block executed?</a:t>
            </a:r>
            <a:endParaRPr lang="en-US"/>
          </a:p>
          <a:p>
            <a:r>
              <a:rPr lang="en-IN">
                <a:solidFill>
                  <a:srgbClr val="00B0F0"/>
                </a:solidFill>
              </a:rPr>
              <a:t>Else block is executed when the condition in the corresponding if statement is false.</a:t>
            </a:r>
            <a:endParaRPr>
              <a:solidFill>
                <a:srgbClr val="00B0F0"/>
              </a:solidFill>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5. What is a Boolean expression?</a:t>
            </a:r>
            <a:endParaRPr lang="en-US"/>
          </a:p>
          <a:p>
            <a:r>
              <a:rPr lang="en-IN">
                <a:solidFill>
                  <a:srgbClr val="00B0F0"/>
                </a:solidFill>
              </a:rPr>
              <a:t>A Boolean statement is an expression that evaluates to only two possible values</a:t>
            </a:r>
            <a:endParaRPr lang="en-IN">
              <a:solidFill>
                <a:srgbClr val="00B0F0"/>
              </a:solidFill>
              <a:ea typeface="Calibri"/>
              <a:cs typeface="Calibri"/>
            </a:endParaRPr>
          </a:p>
          <a:p>
            <a:r>
              <a:rPr lang="en-IN">
                <a:solidFill>
                  <a:srgbClr val="00B0F0"/>
                </a:solidFill>
              </a:rPr>
              <a:t>True</a:t>
            </a:r>
            <a:endParaRPr lang="en-IN">
              <a:solidFill>
                <a:srgbClr val="00B0F0"/>
              </a:solidFill>
              <a:ea typeface="Calibri"/>
              <a:cs typeface="Calibri"/>
            </a:endParaRPr>
          </a:p>
          <a:p>
            <a:r>
              <a:rPr lang="en-IN">
                <a:solidFill>
                  <a:srgbClr val="00B0F0"/>
                </a:solidFill>
              </a:rPr>
              <a:t>False</a:t>
            </a:r>
            <a:endParaRPr lang="en-IN">
              <a:solidFill>
                <a:srgbClr val="00B0F0"/>
              </a:solidFill>
              <a:ea typeface="Calibri"/>
              <a:cs typeface="Calibri"/>
            </a:endParaRPr>
          </a:p>
          <a:p>
            <a:r>
              <a:rPr lang="en-IN">
                <a:solidFill>
                  <a:schemeClr val="accent4">
                    <a:lumMod val="60000"/>
                    <a:lumOff val="40000"/>
                  </a:schemeClr>
                </a:solidFill>
              </a:rPr>
              <a:t> </a:t>
            </a:r>
            <a:endParaRPr>
              <a:solidFill>
                <a:schemeClr val="accent4">
                  <a:lumMod val="60000"/>
                  <a:lumOff val="4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6. Write the syntax of a simple if statement</a:t>
            </a:r>
            <a:endParaRPr lang="en-US"/>
          </a:p>
          <a:p>
            <a:r>
              <a:rPr lang="en-IN">
                <a:solidFill>
                  <a:schemeClr val="accent1">
                    <a:lumMod val="40000"/>
                    <a:lumOff val="60000"/>
                  </a:schemeClr>
                </a:solidFill>
              </a:rPr>
              <a:t>If (condition)</a:t>
            </a:r>
            <a:endParaRPr lang="en-IN">
              <a:solidFill>
                <a:schemeClr val="accent1">
                  <a:lumMod val="40000"/>
                  <a:lumOff val="60000"/>
                </a:schemeClr>
              </a:solidFill>
              <a:ea typeface="Calibri"/>
              <a:cs typeface="Calibri"/>
            </a:endParaRPr>
          </a:p>
          <a:p>
            <a:r>
              <a:rPr lang="en-IN">
                <a:solidFill>
                  <a:schemeClr val="accent1">
                    <a:lumMod val="40000"/>
                    <a:lumOff val="60000"/>
                  </a:schemeClr>
                </a:solidFill>
              </a:rPr>
              <a:t>{</a:t>
            </a:r>
            <a:br>
              <a:rPr lang="en-IN">
                <a:solidFill>
                  <a:schemeClr val="accent1">
                    <a:lumMod val="40000"/>
                    <a:lumOff val="60000"/>
                  </a:schemeClr>
                </a:solidFill>
              </a:rPr>
            </a:br>
            <a:r>
              <a:rPr lang="en-IN">
                <a:solidFill>
                  <a:schemeClr val="accent1">
                    <a:lumMod val="40000"/>
                    <a:lumOff val="60000"/>
                  </a:schemeClr>
                </a:solidFill>
              </a:rPr>
              <a:t>  //statements to be executed</a:t>
            </a:r>
            <a:endParaRPr lang="en-IN">
              <a:solidFill>
                <a:schemeClr val="accent1">
                  <a:lumMod val="40000"/>
                  <a:lumOff val="60000"/>
                </a:schemeClr>
              </a:solidFill>
              <a:ea typeface="Calibri"/>
              <a:cs typeface="Calibri"/>
            </a:endParaRPr>
          </a:p>
          <a:p>
            <a:r>
              <a:rPr lang="en-IN">
                <a:solidFill>
                  <a:schemeClr val="accent1">
                    <a:lumMod val="40000"/>
                    <a:lumOff val="60000"/>
                  </a:schemeClr>
                </a:solidFill>
              </a:rPr>
              <a:t>}</a:t>
            </a:r>
            <a:r>
              <a:rPr>
                <a:solidFill>
                  <a:schemeClr val="accent1">
                    <a:lumMod val="40000"/>
                    <a:lumOff val="60000"/>
                  </a:schemeClr>
                </a:solidFill>
              </a:rPr>
              <a:t>.</a:t>
            </a:r>
            <a:endParaRPr>
              <a:solidFill>
                <a:schemeClr val="accent1">
                  <a:lumMod val="40000"/>
                  <a:lumOff val="60000"/>
                </a:schemeClr>
              </a:solidFill>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7. What operator is commonly used to test equality?</a:t>
            </a:r>
            <a:endParaRPr lang="en-US"/>
          </a:p>
          <a:p>
            <a:r>
              <a:rPr lang="en-IN">
                <a:solidFill>
                  <a:schemeClr val="accent1">
                    <a:lumMod val="40000"/>
                    <a:lumOff val="60000"/>
                  </a:schemeClr>
                </a:solidFill>
              </a:rPr>
              <a:t>Equality operator (==) is used to test whether</a:t>
            </a:r>
            <a:endParaRPr lang="en-IN">
              <a:solidFill>
                <a:schemeClr val="accent1">
                  <a:lumMod val="40000"/>
                  <a:lumOff val="60000"/>
                </a:schemeClr>
              </a:solidFill>
              <a:ea typeface="Calibri"/>
              <a:cs typeface="Calibri"/>
            </a:endParaRPr>
          </a:p>
          <a:p>
            <a:pPr marL="0" indent="0">
              <a:buNone/>
            </a:pPr>
            <a:r>
              <a:rPr lang="en-IN">
                <a:solidFill>
                  <a:schemeClr val="accent1">
                    <a:lumMod val="40000"/>
                    <a:lumOff val="60000"/>
                  </a:schemeClr>
                </a:solidFill>
              </a:rPr>
              <a:t>two values are equal in c/</a:t>
            </a:r>
            <a:r>
              <a:rPr lang="en-IN" err="1">
                <a:solidFill>
                  <a:schemeClr val="accent1">
                    <a:lumMod val="40000"/>
                    <a:lumOff val="60000"/>
                  </a:schemeClr>
                </a:solidFill>
              </a:rPr>
              <a:t>c++</a:t>
            </a:r>
            <a:r>
              <a:rPr lang="en-IN">
                <a:solidFill>
                  <a:schemeClr val="accent1">
                    <a:lumMod val="40000"/>
                    <a:lumOff val="60000"/>
                  </a:schemeClr>
                </a:solidFill>
              </a:rPr>
              <a:t> </a:t>
            </a:r>
            <a:endParaRPr>
              <a:solidFill>
                <a:schemeClr val="accent1">
                  <a:lumMod val="40000"/>
                  <a:lumOff val="60000"/>
                </a:schemeClr>
              </a:solidFill>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8. What does the modulus (%) operator return?</a:t>
            </a:r>
            <a:endParaRPr lang="en-US">
              <a:solidFill>
                <a:schemeClr val="accent4">
                  <a:lumMod val="60000"/>
                  <a:lumOff val="40000"/>
                </a:schemeClr>
              </a:solidFill>
            </a:endParaRPr>
          </a:p>
          <a:p>
            <a:r>
              <a:rPr lang="en-IN">
                <a:solidFill>
                  <a:schemeClr val="accent1">
                    <a:lumMod val="40000"/>
                    <a:lumOff val="60000"/>
                  </a:schemeClr>
                </a:solidFill>
              </a:rPr>
              <a:t>Modulus operator returns the remainder when one integer is divided by another</a:t>
            </a:r>
            <a:r>
              <a:rPr lang="en-IN">
                <a:solidFill>
                  <a:schemeClr val="accent4">
                    <a:lumMod val="60000"/>
                    <a:lumOff val="40000"/>
                  </a:schemeClr>
                </a:solidFill>
              </a:rPr>
              <a:t> .</a:t>
            </a:r>
            <a:endParaRPr>
              <a:solidFill>
                <a:schemeClr val="accent4">
                  <a:lumMod val="60000"/>
                  <a:lumOff val="4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9. How can you check if a number is even?</a:t>
            </a:r>
            <a:endParaRPr lang="en-US"/>
          </a:p>
          <a:p>
            <a:r>
              <a:rPr lang="en-IN">
                <a:solidFill>
                  <a:schemeClr val="accent1">
                    <a:lumMod val="40000"/>
                    <a:lumOff val="60000"/>
                  </a:schemeClr>
                </a:solidFill>
              </a:rPr>
              <a:t>A number will be even if it leaves a remainder of 0 when divided by 2.</a:t>
            </a:r>
            <a:endParaRPr>
              <a:solidFill>
                <a:schemeClr val="accent1">
                  <a:lumMod val="40000"/>
                  <a:lumOff val="60000"/>
                </a:schemeClr>
              </a:solidFill>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10. How can you check if a number is odd?</a:t>
            </a:r>
            <a:endParaRPr lang="en-US"/>
          </a:p>
          <a:p>
            <a:r>
              <a:rPr lang="en-IN">
                <a:solidFill>
                  <a:schemeClr val="accent1">
                    <a:lumMod val="40000"/>
                    <a:lumOff val="60000"/>
                  </a:schemeClr>
                </a:solidFill>
              </a:rPr>
              <a:t>A number is said to be odd if it leaves a remainder when divided by 2.</a:t>
            </a:r>
            <a:endParaRPr>
              <a:solidFill>
                <a:schemeClr val="accent1">
                  <a:lumMod val="40000"/>
                  <a:lumOff val="60000"/>
                </a:schemeClr>
              </a:solidFill>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11. What is the purpose of else-if?</a:t>
            </a:r>
            <a:endParaRPr lang="en-US"/>
          </a:p>
          <a:p>
            <a:r>
              <a:rPr lang="en-IN">
                <a:solidFill>
                  <a:srgbClr val="FFC000"/>
                </a:solidFill>
              </a:rPr>
              <a:t>The main purpose is to check </a:t>
            </a:r>
            <a:endParaRPr lang="en-US">
              <a:solidFill>
                <a:srgbClr val="FFC000"/>
              </a:solidFill>
              <a:ea typeface="Calibri"/>
              <a:cs typeface="Calibri"/>
            </a:endParaRPr>
          </a:p>
          <a:p>
            <a:pPr marL="0" indent="0">
              <a:buNone/>
            </a:pPr>
            <a:r>
              <a:rPr lang="en-US">
                <a:solidFill>
                  <a:srgbClr val="FFC000"/>
                </a:solidFill>
              </a:rPr>
              <a:t>Multiple conditions one after another.</a:t>
            </a:r>
            <a:endParaRPr lang="en-US">
              <a:solidFill>
                <a:srgbClr val="FFC000"/>
              </a:solidFill>
              <a:ea typeface="Calibri"/>
              <a:cs typeface="Calibri"/>
            </a:endParaRPr>
          </a:p>
          <a:p>
            <a:endParaRPr>
              <a:solidFill>
                <a:srgbClr val="FFC000"/>
              </a:solidFill>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12. What is a nested if statement?</a:t>
            </a:r>
            <a:endParaRPr lang="en-US"/>
          </a:p>
          <a:p>
            <a:r>
              <a:rPr lang="en-IN">
                <a:solidFill>
                  <a:srgbClr val="FFC000"/>
                </a:solidFill>
              </a:rPr>
              <a:t>A nested if statement is an if statement placed inside another if statement .</a:t>
            </a:r>
            <a:endParaRPr>
              <a:solidFill>
                <a:srgbClr val="FFC000"/>
              </a:solidFill>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13. Can an if statement exist without an else?</a:t>
            </a:r>
            <a:endParaRPr lang="en-US"/>
          </a:p>
          <a:p>
            <a:r>
              <a:rPr lang="en-IN" err="1">
                <a:solidFill>
                  <a:srgbClr val="FFC000"/>
                </a:solidFill>
              </a:rPr>
              <a:t>Yes</a:t>
            </a:r>
            <a:r>
              <a:rPr lang="en-IN">
                <a:solidFill>
                  <a:srgbClr val="FFC000"/>
                </a:solidFill>
              </a:rPr>
              <a:t> if statement can exist without an else statement.</a:t>
            </a:r>
            <a:endParaRPr>
              <a:solidFill>
                <a:srgbClr val="FFC000"/>
              </a:solidFill>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14. What is the output when a false condition is tested in an if statement without else?</a:t>
            </a:r>
            <a:endParaRPr lang="en-US"/>
          </a:p>
          <a:p>
            <a:r>
              <a:rPr lang="en-IN">
                <a:solidFill>
                  <a:srgbClr val="FFC000"/>
                </a:solidFill>
              </a:rPr>
              <a:t>When a </a:t>
            </a:r>
            <a:r>
              <a:rPr lang="en-IN" b="1">
                <a:solidFill>
                  <a:srgbClr val="FFC000"/>
                </a:solidFill>
              </a:rPr>
              <a:t>false condition</a:t>
            </a:r>
            <a:r>
              <a:rPr lang="en-IN">
                <a:solidFill>
                  <a:srgbClr val="FFC000"/>
                </a:solidFill>
              </a:rPr>
              <a:t> is tested in an if statement </a:t>
            </a:r>
            <a:r>
              <a:rPr lang="en-IN" b="1">
                <a:solidFill>
                  <a:srgbClr val="FFC000"/>
                </a:solidFill>
              </a:rPr>
              <a:t>without an else block</a:t>
            </a:r>
            <a:r>
              <a:rPr lang="en-IN">
                <a:solidFill>
                  <a:srgbClr val="FFC000"/>
                </a:solidFill>
              </a:rPr>
              <a:t>, the statements inside the if block are </a:t>
            </a:r>
            <a:r>
              <a:rPr lang="en-IN" b="1">
                <a:solidFill>
                  <a:srgbClr val="FFC000"/>
                </a:solidFill>
              </a:rPr>
              <a:t>not executed</a:t>
            </a:r>
            <a:r>
              <a:rPr lang="en-IN">
                <a:solidFill>
                  <a:srgbClr val="FFC000"/>
                </a:solidFill>
              </a:rPr>
              <a:t>. The program simply skips the if block and continues with the next statement.</a:t>
            </a:r>
            <a:endParaRPr lang="en-IN">
              <a:solidFill>
                <a:srgbClr val="FFC000"/>
              </a:solidFill>
              <a:ea typeface="Calibri"/>
              <a:cs typeface="Calibri"/>
            </a:endParaRPr>
          </a:p>
          <a:p>
            <a:endParaRPr>
              <a:solidFill>
                <a:schemeClr val="accent4">
                  <a:lumMod val="60000"/>
                  <a:lumOff val="4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15. What is the role of braces {} in C/C++ conditionals?</a:t>
            </a:r>
            <a:endParaRPr lang="en-US"/>
          </a:p>
          <a:p>
            <a:r>
              <a:rPr lang="en-IN">
                <a:solidFill>
                  <a:srgbClr val="FFC000"/>
                </a:solidFill>
              </a:rPr>
              <a:t>Braces {} are used to </a:t>
            </a:r>
            <a:r>
              <a:rPr lang="en-IN" b="1">
                <a:solidFill>
                  <a:srgbClr val="FFC000"/>
                </a:solidFill>
              </a:rPr>
              <a:t>group multiple statements into a single block</a:t>
            </a:r>
            <a:r>
              <a:rPr lang="en-IN">
                <a:solidFill>
                  <a:srgbClr val="FFC000"/>
                </a:solidFill>
              </a:rPr>
              <a:t> in conditional statements such as if, else, and else if.</a:t>
            </a:r>
            <a:endParaRPr lang="en-IN">
              <a:solidFill>
                <a:srgbClr val="FFC000"/>
              </a:solidFill>
              <a:ea typeface="Calibri"/>
              <a:cs typeface="Calibri"/>
            </a:endParaRPr>
          </a:p>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16. What does &gt; mean?</a:t>
            </a:r>
            <a:endParaRPr lang="en-US"/>
          </a:p>
          <a:p>
            <a:r>
              <a:rPr lang="en-IN">
                <a:solidFill>
                  <a:srgbClr val="FFC000"/>
                </a:solidFill>
              </a:rPr>
              <a:t>The </a:t>
            </a:r>
            <a:r>
              <a:rPr lang="en-IN" b="1">
                <a:solidFill>
                  <a:srgbClr val="FFC000"/>
                </a:solidFill>
              </a:rPr>
              <a:t>&gt; (greater than)</a:t>
            </a:r>
            <a:r>
              <a:rPr lang="en-IN">
                <a:solidFill>
                  <a:srgbClr val="FFC000"/>
                </a:solidFill>
              </a:rPr>
              <a:t> operator is a </a:t>
            </a:r>
            <a:r>
              <a:rPr lang="en-IN" b="1">
                <a:solidFill>
                  <a:srgbClr val="FFC000"/>
                </a:solidFill>
              </a:rPr>
              <a:t>relational operator</a:t>
            </a:r>
            <a:r>
              <a:rPr lang="en-IN">
                <a:solidFill>
                  <a:srgbClr val="FFC000"/>
                </a:solidFill>
              </a:rPr>
              <a:t> used to compare two values.</a:t>
            </a:r>
            <a:endParaRPr lang="en-IN">
              <a:solidFill>
                <a:srgbClr val="FFC000"/>
              </a:solidFill>
              <a:ea typeface="Calibri"/>
              <a:cs typeface="Calibri"/>
            </a:endParaRPr>
          </a:p>
          <a:p>
            <a:endParaRPr>
              <a:solidFill>
                <a:srgbClr val="FFC000"/>
              </a:solidFill>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17. What does &lt; mean?</a:t>
            </a:r>
            <a:endParaRPr lang="en-US"/>
          </a:p>
          <a:p>
            <a:r>
              <a:rPr lang="en-IN">
                <a:solidFill>
                  <a:srgbClr val="FFC000"/>
                </a:solidFill>
              </a:rPr>
              <a:t>The </a:t>
            </a:r>
            <a:r>
              <a:rPr lang="en-IN" b="1">
                <a:solidFill>
                  <a:srgbClr val="FFC000"/>
                </a:solidFill>
              </a:rPr>
              <a:t>&lt; (less than)</a:t>
            </a:r>
            <a:r>
              <a:rPr lang="en-IN">
                <a:solidFill>
                  <a:srgbClr val="FFC000"/>
                </a:solidFill>
              </a:rPr>
              <a:t> operator is a </a:t>
            </a:r>
            <a:r>
              <a:rPr lang="en-IN" b="1">
                <a:solidFill>
                  <a:srgbClr val="FFC000"/>
                </a:solidFill>
              </a:rPr>
              <a:t>relational operator</a:t>
            </a:r>
            <a:r>
              <a:rPr lang="en-IN">
                <a:solidFill>
                  <a:srgbClr val="FFC000"/>
                </a:solidFill>
              </a:rPr>
              <a:t> used to compare two values.</a:t>
            </a:r>
            <a:endParaRPr lang="en-IN">
              <a:solidFill>
                <a:srgbClr val="FFC000"/>
              </a:solidFill>
              <a:ea typeface="Calibri"/>
              <a:cs typeface="Calibri"/>
            </a:endParaRPr>
          </a:p>
          <a:p>
            <a:endParaRPr>
              <a:solidFill>
                <a:srgbClr val="FFC000"/>
              </a:solidFill>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18. What does &gt;= mean?</a:t>
            </a:r>
            <a:endParaRPr lang="en-US"/>
          </a:p>
          <a:p>
            <a:r>
              <a:rPr lang="en-IN">
                <a:solidFill>
                  <a:srgbClr val="FFC000"/>
                </a:solidFill>
              </a:rPr>
              <a:t>The </a:t>
            </a:r>
            <a:r>
              <a:rPr lang="en-IN" b="1">
                <a:solidFill>
                  <a:srgbClr val="FFC000"/>
                </a:solidFill>
              </a:rPr>
              <a:t>&gt;= (greater than or equal to)</a:t>
            </a:r>
            <a:r>
              <a:rPr lang="en-IN">
                <a:solidFill>
                  <a:srgbClr val="FFC000"/>
                </a:solidFill>
              </a:rPr>
              <a:t> operator is a </a:t>
            </a:r>
            <a:r>
              <a:rPr lang="en-IN" b="1">
                <a:solidFill>
                  <a:srgbClr val="FFC000"/>
                </a:solidFill>
              </a:rPr>
              <a:t>relational operator</a:t>
            </a:r>
            <a:r>
              <a:rPr lang="en-IN">
                <a:solidFill>
                  <a:srgbClr val="FFC000"/>
                </a:solidFill>
              </a:rPr>
              <a:t> used to compare two values.</a:t>
            </a:r>
            <a:endParaRPr lang="en-IN">
              <a:solidFill>
                <a:srgbClr val="FFC000"/>
              </a:solidFill>
              <a:ea typeface="Calibri"/>
              <a:cs typeface="Calibri"/>
            </a:endParaRPr>
          </a:p>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19. What does &lt;= mean?</a:t>
            </a:r>
            <a:endParaRPr lang="en-US"/>
          </a:p>
          <a:p>
            <a:r>
              <a:rPr lang="en-IN">
                <a:solidFill>
                  <a:srgbClr val="FFC000"/>
                </a:solidFill>
              </a:rPr>
              <a:t>The </a:t>
            </a:r>
            <a:r>
              <a:rPr lang="en-IN" b="1">
                <a:solidFill>
                  <a:srgbClr val="FFC000"/>
                </a:solidFill>
              </a:rPr>
              <a:t>&lt;= (less than or equal to)</a:t>
            </a:r>
            <a:r>
              <a:rPr lang="en-IN">
                <a:solidFill>
                  <a:srgbClr val="FFC000"/>
                </a:solidFill>
              </a:rPr>
              <a:t> operator is a </a:t>
            </a:r>
            <a:r>
              <a:rPr lang="en-IN" b="1">
                <a:solidFill>
                  <a:srgbClr val="FFC000"/>
                </a:solidFill>
              </a:rPr>
              <a:t>relational operator</a:t>
            </a:r>
            <a:r>
              <a:rPr lang="en-IN">
                <a:solidFill>
                  <a:srgbClr val="FFC000"/>
                </a:solidFill>
              </a:rPr>
              <a:t> used to compare two values.</a:t>
            </a:r>
            <a:endParaRPr lang="en-IN">
              <a:solidFill>
                <a:srgbClr val="FFC000"/>
              </a:solidFill>
              <a:ea typeface="Calibri"/>
              <a:cs typeface="Calibri"/>
            </a:endParaRPr>
          </a:p>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20. What does != mean?</a:t>
            </a:r>
            <a:endParaRPr lang="en-US"/>
          </a:p>
          <a:p>
            <a:r>
              <a:rPr lang="en-IN">
                <a:solidFill>
                  <a:srgbClr val="FFC000"/>
                </a:solidFill>
              </a:rPr>
              <a:t>The </a:t>
            </a:r>
            <a:r>
              <a:rPr lang="en-IN" b="1">
                <a:solidFill>
                  <a:srgbClr val="FFC000"/>
                </a:solidFill>
              </a:rPr>
              <a:t>!= (not equal to)</a:t>
            </a:r>
            <a:r>
              <a:rPr lang="en-IN">
                <a:solidFill>
                  <a:srgbClr val="FFC000"/>
                </a:solidFill>
              </a:rPr>
              <a:t> operator is a </a:t>
            </a:r>
            <a:r>
              <a:rPr lang="en-IN" b="1">
                <a:solidFill>
                  <a:srgbClr val="FFC000"/>
                </a:solidFill>
              </a:rPr>
              <a:t>relational operator</a:t>
            </a:r>
            <a:r>
              <a:rPr lang="en-IN">
                <a:solidFill>
                  <a:srgbClr val="FFC000"/>
                </a:solidFill>
              </a:rPr>
              <a:t> used to compare two values</a:t>
            </a:r>
            <a:r>
              <a:rPr lang="en-IN">
                <a:solidFill>
                  <a:schemeClr val="accent4">
                    <a:lumMod val="60000"/>
                    <a:lumOff val="40000"/>
                  </a:schemeClr>
                </a:solidFill>
              </a:rPr>
              <a:t>.</a:t>
            </a:r>
            <a:endParaRPr lang="en-IN">
              <a:solidFill>
                <a:schemeClr val="accent4">
                  <a:lumMod val="60000"/>
                  <a:lumOff val="40000"/>
                </a:schemeClr>
              </a:solidFill>
              <a:ea typeface="Calibri"/>
              <a:cs typeface="Calibri"/>
            </a:endParaRPr>
          </a:p>
          <a:p>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21. What is a switch statement?</a:t>
            </a:r>
            <a:endParaRPr lang="en-US">
              <a:solidFill>
                <a:schemeClr val="accent4">
                  <a:lumMod val="60000"/>
                  <a:lumOff val="40000"/>
                </a:schemeClr>
              </a:solidFill>
            </a:endParaRPr>
          </a:p>
          <a:p>
            <a:r>
              <a:rPr lang="en-IN">
                <a:solidFill>
                  <a:schemeClr val="accent5">
                    <a:lumMod val="76000"/>
                  </a:schemeClr>
                </a:solidFill>
              </a:rPr>
              <a:t>A </a:t>
            </a:r>
            <a:r>
              <a:rPr lang="en-IN" b="1">
                <a:solidFill>
                  <a:schemeClr val="accent5">
                    <a:lumMod val="76000"/>
                  </a:schemeClr>
                </a:solidFill>
              </a:rPr>
              <a:t>switch statement</a:t>
            </a:r>
            <a:r>
              <a:rPr lang="en-IN">
                <a:solidFill>
                  <a:schemeClr val="accent5">
                    <a:lumMod val="76000"/>
                  </a:schemeClr>
                </a:solidFill>
              </a:rPr>
              <a:t> is a decision-making statement that allows a program to choose one block of code from multiple alternatives based on the value of an expression.</a:t>
            </a:r>
            <a:endParaRPr lang="en-IN">
              <a:solidFill>
                <a:schemeClr val="accent5">
                  <a:lumMod val="76000"/>
                </a:schemeClr>
              </a:solidFill>
              <a:ea typeface="Calibri"/>
              <a:cs typeface="Calibri"/>
            </a:endParaRPr>
          </a:p>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22. What is a case label in a switch statement?</a:t>
            </a:r>
            <a:endParaRPr lang="en-US"/>
          </a:p>
          <a:p>
            <a:r>
              <a:rPr lang="en-IN">
                <a:solidFill>
                  <a:schemeClr val="accent5">
                    <a:lumMod val="76000"/>
                  </a:schemeClr>
                </a:solidFill>
              </a:rPr>
              <a:t>A </a:t>
            </a:r>
            <a:r>
              <a:rPr lang="en-IN" b="1">
                <a:solidFill>
                  <a:schemeClr val="accent5">
                    <a:lumMod val="76000"/>
                  </a:schemeClr>
                </a:solidFill>
              </a:rPr>
              <a:t>case label</a:t>
            </a:r>
            <a:r>
              <a:rPr lang="en-IN">
                <a:solidFill>
                  <a:schemeClr val="accent5">
                    <a:lumMod val="76000"/>
                  </a:schemeClr>
                </a:solidFill>
              </a:rPr>
              <a:t> is a value inside a switch statement that specifies a particular option to be matched with the value of the switch expression.</a:t>
            </a:r>
            <a:endParaRPr lang="en-IN">
              <a:solidFill>
                <a:schemeClr val="accent5">
                  <a:lumMod val="76000"/>
                </a:schemeClr>
              </a:solidFill>
              <a:ea typeface="Calibri"/>
              <a:cs typeface="Calibri"/>
            </a:endParaRPr>
          </a:p>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23. Why is break used in switch?</a:t>
            </a:r>
            <a:endParaRPr lang="en-US"/>
          </a:p>
          <a:p>
            <a:r>
              <a:rPr lang="en-IN">
                <a:solidFill>
                  <a:schemeClr val="accent5">
                    <a:lumMod val="76000"/>
                  </a:schemeClr>
                </a:solidFill>
              </a:rPr>
              <a:t>The </a:t>
            </a:r>
            <a:r>
              <a:rPr lang="en-IN" b="1">
                <a:solidFill>
                  <a:schemeClr val="accent5">
                    <a:lumMod val="76000"/>
                  </a:schemeClr>
                </a:solidFill>
              </a:rPr>
              <a:t>break</a:t>
            </a:r>
            <a:r>
              <a:rPr lang="en-IN">
                <a:solidFill>
                  <a:schemeClr val="accent5">
                    <a:lumMod val="76000"/>
                  </a:schemeClr>
                </a:solidFill>
              </a:rPr>
              <a:t> statement is used to </a:t>
            </a:r>
            <a:r>
              <a:rPr lang="en-IN" b="1">
                <a:solidFill>
                  <a:schemeClr val="accent5">
                    <a:lumMod val="76000"/>
                  </a:schemeClr>
                </a:solidFill>
              </a:rPr>
              <a:t>terminate the execution of a switch case</a:t>
            </a:r>
            <a:r>
              <a:rPr lang="en-IN">
                <a:solidFill>
                  <a:schemeClr val="accent5">
                    <a:lumMod val="76000"/>
                  </a:schemeClr>
                </a:solidFill>
              </a:rPr>
              <a:t> and exit the switch block.</a:t>
            </a:r>
            <a:endParaRPr lang="en-IN">
              <a:solidFill>
                <a:schemeClr val="accent5">
                  <a:lumMod val="76000"/>
                </a:schemeClr>
              </a:solidFill>
              <a:ea typeface="Calibri"/>
              <a:cs typeface="Calibri"/>
            </a:endParaRPr>
          </a:p>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24. What happens if break is omitted?</a:t>
            </a:r>
            <a:endParaRPr lang="en-US"/>
          </a:p>
          <a:p>
            <a:r>
              <a:rPr lang="en-IN">
                <a:solidFill>
                  <a:schemeClr val="accent5">
                    <a:lumMod val="76000"/>
                  </a:schemeClr>
                </a:solidFill>
              </a:rPr>
              <a:t>If the </a:t>
            </a:r>
            <a:r>
              <a:rPr lang="en-IN" b="1">
                <a:solidFill>
                  <a:schemeClr val="accent5">
                    <a:lumMod val="76000"/>
                  </a:schemeClr>
                </a:solidFill>
              </a:rPr>
              <a:t>break</a:t>
            </a:r>
            <a:r>
              <a:rPr lang="en-IN">
                <a:solidFill>
                  <a:schemeClr val="accent5">
                    <a:lumMod val="76000"/>
                  </a:schemeClr>
                </a:solidFill>
              </a:rPr>
              <a:t> statement is omitted, the program continues executing the statements of the next case(s) even if their labels do not match. This is called </a:t>
            </a:r>
            <a:r>
              <a:rPr lang="en-IN" b="1">
                <a:solidFill>
                  <a:schemeClr val="accent5">
                    <a:lumMod val="76000"/>
                  </a:schemeClr>
                </a:solidFill>
              </a:rPr>
              <a:t>fall-through</a:t>
            </a:r>
            <a:r>
              <a:rPr lang="en-IN">
                <a:solidFill>
                  <a:schemeClr val="accent5">
                    <a:lumMod val="76000"/>
                  </a:schemeClr>
                </a:solidFill>
              </a:rPr>
              <a:t>.</a:t>
            </a:r>
            <a:endParaRPr lang="en-IN">
              <a:solidFill>
                <a:schemeClr val="accent5">
                  <a:lumMod val="76000"/>
                </a:schemeClr>
              </a:solidFill>
              <a:ea typeface="Calibri"/>
              <a:cs typeface="Calibri"/>
            </a:endParaRPr>
          </a:p>
          <a:p>
            <a:endParaRPr lang="en-US">
              <a:solidFill>
                <a:schemeClr val="accent4">
                  <a:lumMod val="60000"/>
                  <a:lumOff val="40000"/>
                </a:schemeClr>
              </a:solidFill>
            </a:endParaRPr>
          </a:p>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25. What is the default case in switch?</a:t>
            </a:r>
            <a:endParaRPr lang="en-US"/>
          </a:p>
          <a:p>
            <a:r>
              <a:rPr lang="en-IN">
                <a:solidFill>
                  <a:schemeClr val="accent5">
                    <a:lumMod val="76000"/>
                  </a:schemeClr>
                </a:solidFill>
              </a:rPr>
              <a:t>The </a:t>
            </a:r>
            <a:r>
              <a:rPr lang="en-IN" b="1">
                <a:solidFill>
                  <a:schemeClr val="accent5">
                    <a:lumMod val="76000"/>
                  </a:schemeClr>
                </a:solidFill>
              </a:rPr>
              <a:t>default case</a:t>
            </a:r>
            <a:r>
              <a:rPr lang="en-IN">
                <a:solidFill>
                  <a:schemeClr val="accent5">
                    <a:lumMod val="76000"/>
                  </a:schemeClr>
                </a:solidFill>
              </a:rPr>
              <a:t> is executed when none of the case labels match the value of the switch expression.</a:t>
            </a:r>
            <a:endParaRPr lang="en-IN">
              <a:solidFill>
                <a:schemeClr val="accent5">
                  <a:lumMod val="76000"/>
                </a:schemeClr>
              </a:solidFill>
              <a:ea typeface="Calibri"/>
              <a:cs typeface="Calibri"/>
            </a:endParaRPr>
          </a:p>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lnSpcReduction="10000"/>
          </a:bodyPr>
          <a:lstStyle/>
          <a:p>
            <a:r>
              <a:t>26. Can switch compare strings in C++?</a:t>
            </a:r>
            <a:endParaRPr lang="en-US"/>
          </a:p>
          <a:p>
            <a:r>
              <a:rPr lang="en-IN" b="1">
                <a:solidFill>
                  <a:schemeClr val="accent5">
                    <a:lumMod val="76000"/>
                  </a:schemeClr>
                </a:solidFill>
              </a:rPr>
              <a:t>No</a:t>
            </a:r>
            <a:r>
              <a:rPr lang="en-IN">
                <a:solidFill>
                  <a:schemeClr val="accent5">
                    <a:lumMod val="76000"/>
                  </a:schemeClr>
                </a:solidFill>
              </a:rPr>
              <a:t>, a switch statement cannot directly compare </a:t>
            </a:r>
            <a:r>
              <a:rPr lang="en-IN" b="1">
                <a:solidFill>
                  <a:schemeClr val="accent5">
                    <a:lumMod val="76000"/>
                  </a:schemeClr>
                </a:solidFill>
              </a:rPr>
              <a:t>strings</a:t>
            </a:r>
            <a:r>
              <a:rPr lang="en-IN">
                <a:solidFill>
                  <a:schemeClr val="accent5">
                    <a:lumMod val="76000"/>
                  </a:schemeClr>
                </a:solidFill>
              </a:rPr>
              <a:t> in standard C++.</a:t>
            </a:r>
            <a:endParaRPr lang="en-IN">
              <a:solidFill>
                <a:schemeClr val="accent5">
                  <a:lumMod val="76000"/>
                </a:schemeClr>
              </a:solidFill>
              <a:ea typeface="Calibri"/>
              <a:cs typeface="Calibri"/>
            </a:endParaRPr>
          </a:p>
          <a:p>
            <a:r>
              <a:rPr lang="en-IN">
                <a:solidFill>
                  <a:schemeClr val="accent5">
                    <a:lumMod val="76000"/>
                  </a:schemeClr>
                </a:solidFill>
              </a:rPr>
              <a:t>A switch statement works only with:</a:t>
            </a:r>
            <a:endParaRPr lang="en-IN">
              <a:solidFill>
                <a:schemeClr val="accent5">
                  <a:lumMod val="76000"/>
                </a:schemeClr>
              </a:solidFill>
              <a:ea typeface="Calibri"/>
              <a:cs typeface="Calibri"/>
            </a:endParaRPr>
          </a:p>
          <a:p>
            <a:r>
              <a:rPr lang="en-IN">
                <a:solidFill>
                  <a:schemeClr val="accent5">
                    <a:lumMod val="76000"/>
                  </a:schemeClr>
                </a:solidFill>
              </a:rPr>
              <a:t>int </a:t>
            </a:r>
            <a:endParaRPr lang="en-IN">
              <a:solidFill>
                <a:schemeClr val="accent5">
                  <a:lumMod val="76000"/>
                </a:schemeClr>
              </a:solidFill>
              <a:ea typeface="Calibri"/>
              <a:cs typeface="Calibri"/>
            </a:endParaRPr>
          </a:p>
          <a:p>
            <a:r>
              <a:rPr lang="en-IN">
                <a:solidFill>
                  <a:schemeClr val="accent5">
                    <a:lumMod val="76000"/>
                  </a:schemeClr>
                </a:solidFill>
              </a:rPr>
              <a:t>char </a:t>
            </a:r>
            <a:endParaRPr lang="en-IN">
              <a:solidFill>
                <a:schemeClr val="accent5">
                  <a:lumMod val="76000"/>
                </a:schemeClr>
              </a:solidFill>
              <a:ea typeface="Calibri"/>
              <a:cs typeface="Calibri"/>
            </a:endParaRPr>
          </a:p>
          <a:p>
            <a:r>
              <a:rPr lang="en-IN" err="1">
                <a:solidFill>
                  <a:schemeClr val="accent5">
                    <a:lumMod val="76000"/>
                  </a:schemeClr>
                </a:solidFill>
              </a:rPr>
              <a:t>enum</a:t>
            </a:r>
            <a:r>
              <a:rPr lang="en-IN">
                <a:solidFill>
                  <a:schemeClr val="accent5">
                    <a:lumMod val="76000"/>
                  </a:schemeClr>
                </a:solidFill>
              </a:rPr>
              <a:t> </a:t>
            </a:r>
            <a:endParaRPr lang="en-IN">
              <a:solidFill>
                <a:schemeClr val="accent5">
                  <a:lumMod val="76000"/>
                </a:schemeClr>
              </a:solidFill>
              <a:ea typeface="Calibri"/>
              <a:cs typeface="Calibri"/>
            </a:endParaRPr>
          </a:p>
          <a:p>
            <a:r>
              <a:rPr lang="en-IN">
                <a:solidFill>
                  <a:schemeClr val="accent5">
                    <a:lumMod val="76000"/>
                  </a:schemeClr>
                </a:solidFill>
              </a:rPr>
              <a:t>Other integral types</a:t>
            </a:r>
            <a:r>
              <a:rPr lang="en-IN">
                <a:solidFill>
                  <a:schemeClr val="accent4">
                    <a:lumMod val="60000"/>
                    <a:lumOff val="40000"/>
                  </a:schemeClr>
                </a:solidFill>
              </a:rPr>
              <a:t> </a:t>
            </a:r>
            <a:endParaRPr lang="en-IN">
              <a:solidFill>
                <a:schemeClr val="accent4">
                  <a:lumMod val="60000"/>
                  <a:lumOff val="40000"/>
                </a:schemeClr>
              </a:solidFill>
              <a:ea typeface="Calibri"/>
              <a:cs typeface="Calibri"/>
            </a:endParaRPr>
          </a:p>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27. Which statement is better for many constant choices: if-else or switch?</a:t>
            </a:r>
            <a:endParaRPr lang="en-US"/>
          </a:p>
          <a:p>
            <a:r>
              <a:rPr lang="en-IN">
                <a:solidFill>
                  <a:schemeClr val="accent5">
                    <a:lumMod val="76000"/>
                  </a:schemeClr>
                </a:solidFill>
              </a:rPr>
              <a:t>For </a:t>
            </a:r>
            <a:r>
              <a:rPr lang="en-IN" b="1">
                <a:solidFill>
                  <a:schemeClr val="accent5">
                    <a:lumMod val="76000"/>
                  </a:schemeClr>
                </a:solidFill>
              </a:rPr>
              <a:t>many constant choices</a:t>
            </a:r>
            <a:r>
              <a:rPr lang="en-IN">
                <a:solidFill>
                  <a:schemeClr val="accent5">
                    <a:lumMod val="76000"/>
                  </a:schemeClr>
                </a:solidFill>
              </a:rPr>
              <a:t>, a </a:t>
            </a:r>
            <a:r>
              <a:rPr lang="en-IN" b="1">
                <a:solidFill>
                  <a:schemeClr val="accent5">
                    <a:lumMod val="76000"/>
                  </a:schemeClr>
                </a:solidFill>
              </a:rPr>
              <a:t>switch statement</a:t>
            </a:r>
            <a:r>
              <a:rPr lang="en-IN">
                <a:solidFill>
                  <a:schemeClr val="accent5">
                    <a:lumMod val="76000"/>
                  </a:schemeClr>
                </a:solidFill>
              </a:rPr>
              <a:t> is generally better than an if-else ladder.</a:t>
            </a:r>
            <a:endParaRPr lang="en-IN">
              <a:solidFill>
                <a:schemeClr val="accent5">
                  <a:lumMod val="76000"/>
                </a:schemeClr>
              </a:solidFill>
              <a:ea typeface="Calibri"/>
              <a:cs typeface="Calibri"/>
            </a:endParaRPr>
          </a:p>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28. How do you test whether a value is positive?</a:t>
            </a:r>
            <a:endParaRPr lang="en-US"/>
          </a:p>
          <a:p>
            <a:r>
              <a:rPr lang="en-IN">
                <a:solidFill>
                  <a:schemeClr val="accent5">
                    <a:lumMod val="76000"/>
                  </a:schemeClr>
                </a:solidFill>
              </a:rPr>
              <a:t>A value is </a:t>
            </a:r>
            <a:r>
              <a:rPr lang="en-IN" b="1">
                <a:solidFill>
                  <a:schemeClr val="accent5">
                    <a:lumMod val="76000"/>
                  </a:schemeClr>
                </a:solidFill>
              </a:rPr>
              <a:t>positive</a:t>
            </a:r>
            <a:r>
              <a:rPr lang="en-IN">
                <a:solidFill>
                  <a:schemeClr val="accent5">
                    <a:lumMod val="76000"/>
                  </a:schemeClr>
                </a:solidFill>
              </a:rPr>
              <a:t> if it is </a:t>
            </a:r>
            <a:r>
              <a:rPr lang="en-IN" b="1">
                <a:solidFill>
                  <a:schemeClr val="accent5">
                    <a:lumMod val="76000"/>
                  </a:schemeClr>
                </a:solidFill>
              </a:rPr>
              <a:t>greater than zero</a:t>
            </a:r>
            <a:r>
              <a:rPr lang="en-IN">
                <a:solidFill>
                  <a:schemeClr val="accent5">
                    <a:lumMod val="76000"/>
                  </a:schemeClr>
                </a:solidFill>
              </a:rPr>
              <a:t>.</a:t>
            </a:r>
            <a:endParaRPr lang="en-IN">
              <a:solidFill>
                <a:schemeClr val="accent5">
                  <a:lumMod val="76000"/>
                </a:schemeClr>
              </a:solidFill>
              <a:ea typeface="Calibri"/>
              <a:cs typeface="Calibri"/>
            </a:endParaRPr>
          </a:p>
          <a:p>
            <a:endParaRPr>
              <a:solidFill>
                <a:schemeClr val="accent5">
                  <a:lumMod val="76000"/>
                </a:schemeClr>
              </a:solidFill>
              <a:ea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29. How do you test whether a value is negative?</a:t>
            </a:r>
            <a:endParaRPr lang="en-US">
              <a:solidFill>
                <a:schemeClr val="accent4">
                  <a:lumMod val="60000"/>
                  <a:lumOff val="40000"/>
                </a:schemeClr>
              </a:solidFill>
            </a:endParaRPr>
          </a:p>
          <a:p>
            <a:r>
              <a:rPr lang="en-IN">
                <a:solidFill>
                  <a:schemeClr val="accent5">
                    <a:lumMod val="76000"/>
                  </a:schemeClr>
                </a:solidFill>
              </a:rPr>
              <a:t>A value is </a:t>
            </a:r>
            <a:r>
              <a:rPr lang="en-IN" b="1">
                <a:solidFill>
                  <a:schemeClr val="accent5">
                    <a:lumMod val="76000"/>
                  </a:schemeClr>
                </a:solidFill>
              </a:rPr>
              <a:t>negative</a:t>
            </a:r>
            <a:r>
              <a:rPr lang="en-IN">
                <a:solidFill>
                  <a:schemeClr val="accent5">
                    <a:lumMod val="76000"/>
                  </a:schemeClr>
                </a:solidFill>
              </a:rPr>
              <a:t> if it is </a:t>
            </a:r>
            <a:r>
              <a:rPr lang="en-IN" b="1">
                <a:solidFill>
                  <a:schemeClr val="accent5">
                    <a:lumMod val="76000"/>
                  </a:schemeClr>
                </a:solidFill>
              </a:rPr>
              <a:t>less than zero</a:t>
            </a:r>
            <a:r>
              <a:rPr lang="en-IN">
                <a:solidFill>
                  <a:schemeClr val="accent5">
                    <a:lumMod val="76000"/>
                  </a:schemeClr>
                </a:solidFill>
              </a:rPr>
              <a:t>.</a:t>
            </a:r>
            <a:endParaRPr lang="en-IN">
              <a:solidFill>
                <a:schemeClr val="accent5">
                  <a:lumMod val="76000"/>
                </a:schemeClr>
              </a:solidFill>
              <a:ea typeface="Calibri"/>
              <a:cs typeface="Calibri"/>
            </a:endParaRPr>
          </a:p>
          <a:p>
            <a:endParaRPr>
              <a:solidFill>
                <a:schemeClr val="accent5">
                  <a:lumMod val="76000"/>
                </a:schemeClr>
              </a:solidFill>
              <a:ea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30. How do you test whether a value is zero?</a:t>
            </a:r>
            <a:endParaRPr lang="en-US"/>
          </a:p>
          <a:p>
            <a:r>
              <a:rPr lang="en-IN">
                <a:solidFill>
                  <a:schemeClr val="accent5">
                    <a:lumMod val="76000"/>
                  </a:schemeClr>
                </a:solidFill>
              </a:rPr>
              <a:t>A value is </a:t>
            </a:r>
            <a:r>
              <a:rPr lang="en-IN" b="1">
                <a:solidFill>
                  <a:schemeClr val="accent5">
                    <a:lumMod val="76000"/>
                  </a:schemeClr>
                </a:solidFill>
              </a:rPr>
              <a:t>zero</a:t>
            </a:r>
            <a:r>
              <a:rPr lang="en-IN">
                <a:solidFill>
                  <a:schemeClr val="accent5">
                    <a:lumMod val="76000"/>
                  </a:schemeClr>
                </a:solidFill>
              </a:rPr>
              <a:t> if it is equal to </a:t>
            </a:r>
            <a:r>
              <a:rPr lang="en-IN" b="1">
                <a:solidFill>
                  <a:schemeClr val="accent5">
                    <a:lumMod val="76000"/>
                  </a:schemeClr>
                </a:solidFill>
              </a:rPr>
              <a:t>0</a:t>
            </a:r>
            <a:r>
              <a:rPr lang="en-IN">
                <a:solidFill>
                  <a:schemeClr val="accent5">
                    <a:lumMod val="76000"/>
                  </a:schemeClr>
                </a:solidFill>
              </a:rPr>
              <a:t>.</a:t>
            </a:r>
            <a:endParaRPr lang="en-IN">
              <a:solidFill>
                <a:schemeClr val="accent5">
                  <a:lumMod val="76000"/>
                </a:schemeClr>
              </a:solidFill>
              <a:ea typeface="Calibri"/>
              <a:cs typeface="Calibri"/>
            </a:endParaRPr>
          </a:p>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31. Write a condition to check if age is at least </a:t>
            </a:r>
            <a:endParaRPr lang="en-US"/>
          </a:p>
          <a:p>
            <a:pPr marL="0" indent="0">
              <a:buNone/>
            </a:pPr>
            <a:r>
              <a:rPr lang="en-IN"/>
              <a:t>   18</a:t>
            </a:r>
          </a:p>
          <a:p>
            <a:pPr marL="0" indent="0">
              <a:buNone/>
            </a:pPr>
            <a:r>
              <a:rPr lang="en-US">
                <a:solidFill>
                  <a:schemeClr val="bg1">
                    <a:lumMod val="49000"/>
                  </a:schemeClr>
                </a:solidFill>
              </a:rPr>
              <a:t>age &gt;= 18</a:t>
            </a:r>
            <a:endParaRPr lang="en-US">
              <a:solidFill>
                <a:schemeClr val="bg1">
                  <a:lumMod val="49000"/>
                </a:schemeClr>
              </a:solidFill>
              <a:ea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32. Write a condition to check if marks are above 50.</a:t>
            </a:r>
            <a:endParaRPr lang="en-US"/>
          </a:p>
          <a:p>
            <a:r>
              <a:rPr lang="en-IN">
                <a:solidFill>
                  <a:schemeClr val="bg1">
                    <a:lumMod val="49000"/>
                  </a:schemeClr>
                </a:solidFill>
              </a:rPr>
              <a:t>marks &gt; 50</a:t>
            </a:r>
            <a:endParaRPr lang="en-IN">
              <a:solidFill>
                <a:schemeClr val="bg1">
                  <a:lumMod val="49000"/>
                </a:schemeClr>
              </a:solidFill>
              <a:ea typeface="Calibri"/>
              <a:cs typeface="Calibri"/>
            </a:endParaRPr>
          </a:p>
          <a:p>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r>
              <a:t>33. What is decision making in programming?</a:t>
            </a:r>
            <a:r>
              <a:rPr lang="en-US"/>
              <a:t> </a:t>
            </a:r>
          </a:p>
          <a:p>
            <a:r>
              <a:rPr lang="en-IN" b="1">
                <a:solidFill>
                  <a:schemeClr val="bg1">
                    <a:lumMod val="49000"/>
                  </a:schemeClr>
                </a:solidFill>
              </a:rPr>
              <a:t>Decision making</a:t>
            </a:r>
            <a:r>
              <a:rPr lang="en-IN">
                <a:solidFill>
                  <a:schemeClr val="bg1">
                    <a:lumMod val="49000"/>
                  </a:schemeClr>
                </a:solidFill>
              </a:rPr>
              <a:t> is the process by which a program chooses between different actions based on whether a condition is true or false.</a:t>
            </a:r>
            <a:endParaRPr lang="en-IN">
              <a:solidFill>
                <a:schemeClr val="bg1">
                  <a:lumMod val="49000"/>
                </a:schemeClr>
              </a:solidFill>
              <a:ea typeface="Calibri"/>
              <a:cs typeface="Calibri"/>
            </a:endParaRPr>
          </a:p>
          <a:p>
            <a:r>
              <a:rPr lang="en-IN">
                <a:solidFill>
                  <a:schemeClr val="bg1">
                    <a:lumMod val="49000"/>
                  </a:schemeClr>
                </a:solidFill>
              </a:rPr>
              <a:t>It is done using conditional statements such as:</a:t>
            </a:r>
            <a:endParaRPr lang="en-IN">
              <a:solidFill>
                <a:schemeClr val="bg1">
                  <a:lumMod val="49000"/>
                </a:schemeClr>
              </a:solidFill>
              <a:ea typeface="Calibri"/>
              <a:cs typeface="Calibri"/>
            </a:endParaRPr>
          </a:p>
          <a:p>
            <a:r>
              <a:rPr lang="en-IN">
                <a:solidFill>
                  <a:schemeClr val="bg1">
                    <a:lumMod val="49000"/>
                  </a:schemeClr>
                </a:solidFill>
              </a:rPr>
              <a:t>if </a:t>
            </a:r>
            <a:endParaRPr lang="en-IN">
              <a:solidFill>
                <a:schemeClr val="bg1">
                  <a:lumMod val="49000"/>
                </a:schemeClr>
              </a:solidFill>
              <a:ea typeface="Calibri"/>
              <a:cs typeface="Calibri"/>
            </a:endParaRPr>
          </a:p>
          <a:p>
            <a:r>
              <a:rPr lang="en-IN">
                <a:solidFill>
                  <a:schemeClr val="bg1">
                    <a:lumMod val="49000"/>
                  </a:schemeClr>
                </a:solidFill>
              </a:rPr>
              <a:t>if-else </a:t>
            </a:r>
            <a:endParaRPr lang="en-IN">
              <a:solidFill>
                <a:schemeClr val="bg1">
                  <a:lumMod val="49000"/>
                </a:schemeClr>
              </a:solidFill>
              <a:ea typeface="Calibri"/>
              <a:cs typeface="Calibri"/>
            </a:endParaRPr>
          </a:p>
          <a:p>
            <a:r>
              <a:rPr lang="en-IN">
                <a:solidFill>
                  <a:schemeClr val="bg1">
                    <a:lumMod val="49000"/>
                  </a:schemeClr>
                </a:solidFill>
              </a:rPr>
              <a:t>else if </a:t>
            </a:r>
            <a:endParaRPr lang="en-IN">
              <a:solidFill>
                <a:schemeClr val="bg1">
                  <a:lumMod val="49000"/>
                </a:schemeClr>
              </a:solidFill>
              <a:ea typeface="Calibri"/>
              <a:cs typeface="Calibri"/>
            </a:endParaRPr>
          </a:p>
          <a:p>
            <a:r>
              <a:rPr lang="en-IN">
                <a:solidFill>
                  <a:schemeClr val="bg1">
                    <a:lumMod val="49000"/>
                  </a:schemeClr>
                </a:solidFill>
              </a:rPr>
              <a:t>switch </a:t>
            </a:r>
            <a:endParaRPr lang="en-IN">
              <a:solidFill>
                <a:schemeClr val="bg1">
                  <a:lumMod val="49000"/>
                </a:schemeClr>
              </a:solidFill>
              <a:ea typeface="Calibri"/>
              <a:cs typeface="Calibri"/>
            </a:endParaRPr>
          </a:p>
          <a:p>
            <a:endParaRPr lang="en-US"/>
          </a:p>
          <a:p>
            <a:endParaRPr lang="en-US"/>
          </a:p>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34. Can nested if statements have multiple levels?</a:t>
            </a:r>
            <a:endParaRPr lang="en-US"/>
          </a:p>
          <a:p>
            <a:r>
              <a:rPr lang="en-IN" b="1">
                <a:solidFill>
                  <a:schemeClr val="bg1">
                    <a:lumMod val="49000"/>
                  </a:schemeClr>
                </a:solidFill>
              </a:rPr>
              <a:t>Yes</a:t>
            </a:r>
            <a:r>
              <a:rPr lang="en-IN">
                <a:solidFill>
                  <a:schemeClr val="bg1">
                    <a:lumMod val="49000"/>
                  </a:schemeClr>
                </a:solidFill>
              </a:rPr>
              <a:t>, nested if statements can have </a:t>
            </a:r>
            <a:r>
              <a:rPr lang="en-IN" b="1">
                <a:solidFill>
                  <a:schemeClr val="bg1">
                    <a:lumMod val="49000"/>
                  </a:schemeClr>
                </a:solidFill>
              </a:rPr>
              <a:t>multiple levels</a:t>
            </a:r>
            <a:r>
              <a:rPr lang="en-IN">
                <a:solidFill>
                  <a:schemeClr val="bg1">
                    <a:lumMod val="49000"/>
                  </a:schemeClr>
                </a:solidFill>
              </a:rPr>
              <a:t>. An if statement can be placed inside another if statement, and this nesting can continue as needed.</a:t>
            </a:r>
            <a:endParaRPr lang="en-IN">
              <a:solidFill>
                <a:schemeClr val="bg1">
                  <a:lumMod val="49000"/>
                </a:schemeClr>
              </a:solidFill>
              <a:ea typeface="Calibri"/>
              <a:cs typeface="Calibri"/>
            </a:endParaRPr>
          </a:p>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35. What is logical AND (&amp;&amp;)?</a:t>
            </a:r>
            <a:endParaRPr lang="en-US"/>
          </a:p>
          <a:p>
            <a:r>
              <a:rPr lang="en-IN">
                <a:solidFill>
                  <a:schemeClr val="bg1">
                    <a:lumMod val="49000"/>
                  </a:schemeClr>
                </a:solidFill>
              </a:rPr>
              <a:t>The </a:t>
            </a:r>
            <a:r>
              <a:rPr lang="en-IN" b="1">
                <a:solidFill>
                  <a:schemeClr val="bg1">
                    <a:lumMod val="49000"/>
                  </a:schemeClr>
                </a:solidFill>
              </a:rPr>
              <a:t>logical AND operator (&amp;&amp;)</a:t>
            </a:r>
            <a:r>
              <a:rPr lang="en-IN">
                <a:solidFill>
                  <a:schemeClr val="bg1">
                    <a:lumMod val="49000"/>
                  </a:schemeClr>
                </a:solidFill>
              </a:rPr>
              <a:t> is used to combine two or more conditions.</a:t>
            </a:r>
            <a:endParaRPr lang="en-IN">
              <a:solidFill>
                <a:schemeClr val="bg1">
                  <a:lumMod val="49000"/>
                </a:schemeClr>
              </a:solidFill>
              <a:ea typeface="Calibri"/>
              <a:cs typeface="Calibri"/>
            </a:endParaRPr>
          </a:p>
          <a:p>
            <a:r>
              <a:rPr lang="en-IN">
                <a:solidFill>
                  <a:schemeClr val="bg1">
                    <a:lumMod val="49000"/>
                  </a:schemeClr>
                </a:solidFill>
              </a:rPr>
              <a:t>It returns:</a:t>
            </a:r>
            <a:endParaRPr lang="en-IN">
              <a:solidFill>
                <a:schemeClr val="bg1">
                  <a:lumMod val="49000"/>
                </a:schemeClr>
              </a:solidFill>
              <a:ea typeface="Calibri"/>
              <a:cs typeface="Calibri"/>
            </a:endParaRPr>
          </a:p>
          <a:p>
            <a:r>
              <a:rPr lang="en-IN" b="1">
                <a:solidFill>
                  <a:schemeClr val="bg1">
                    <a:lumMod val="49000"/>
                  </a:schemeClr>
                </a:solidFill>
              </a:rPr>
              <a:t>True (1)</a:t>
            </a:r>
            <a:r>
              <a:rPr lang="en-IN">
                <a:solidFill>
                  <a:schemeClr val="bg1">
                    <a:lumMod val="49000"/>
                  </a:schemeClr>
                </a:solidFill>
              </a:rPr>
              <a:t> if </a:t>
            </a:r>
            <a:r>
              <a:rPr lang="en-IN" b="1">
                <a:solidFill>
                  <a:schemeClr val="bg1">
                    <a:lumMod val="49000"/>
                  </a:schemeClr>
                </a:solidFill>
              </a:rPr>
              <a:t>all conditions are true</a:t>
            </a:r>
            <a:r>
              <a:rPr lang="en-IN">
                <a:solidFill>
                  <a:schemeClr val="bg1">
                    <a:lumMod val="49000"/>
                  </a:schemeClr>
                </a:solidFill>
              </a:rPr>
              <a:t>. </a:t>
            </a:r>
            <a:endParaRPr lang="en-IN">
              <a:solidFill>
                <a:schemeClr val="bg1">
                  <a:lumMod val="49000"/>
                </a:schemeClr>
              </a:solidFill>
              <a:ea typeface="Calibri"/>
              <a:cs typeface="Calibri"/>
            </a:endParaRPr>
          </a:p>
          <a:p>
            <a:r>
              <a:rPr lang="en-IN" b="1">
                <a:solidFill>
                  <a:schemeClr val="bg1">
                    <a:lumMod val="49000"/>
                  </a:schemeClr>
                </a:solidFill>
              </a:rPr>
              <a:t>False (0)</a:t>
            </a:r>
            <a:r>
              <a:rPr lang="en-IN">
                <a:solidFill>
                  <a:schemeClr val="bg1">
                    <a:lumMod val="49000"/>
                  </a:schemeClr>
                </a:solidFill>
              </a:rPr>
              <a:t> if </a:t>
            </a:r>
            <a:r>
              <a:rPr lang="en-IN" b="1">
                <a:solidFill>
                  <a:schemeClr val="bg1">
                    <a:lumMod val="49000"/>
                  </a:schemeClr>
                </a:solidFill>
              </a:rPr>
              <a:t>any one condition is false</a:t>
            </a:r>
            <a:r>
              <a:rPr lang="en-IN">
                <a:solidFill>
                  <a:schemeClr val="accent4">
                    <a:lumMod val="60000"/>
                    <a:lumOff val="40000"/>
                  </a:schemeClr>
                </a:solidFill>
              </a:rPr>
              <a:t>. </a:t>
            </a:r>
            <a:endParaRPr lang="en-IN">
              <a:solidFill>
                <a:schemeClr val="accent4">
                  <a:lumMod val="60000"/>
                  <a:lumOff val="40000"/>
                </a:schemeClr>
              </a:solidFill>
              <a:ea typeface="Calibri"/>
              <a:cs typeface="Calibri"/>
            </a:endParaRPr>
          </a:p>
          <a:p>
            <a:endParaRPr lang="en-US"/>
          </a:p>
          <a:p>
            <a:pPr algn="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36. What is logical OR (||)?</a:t>
            </a:r>
            <a:endParaRPr lang="en-US"/>
          </a:p>
          <a:p>
            <a:r>
              <a:rPr lang="en-IN">
                <a:solidFill>
                  <a:schemeClr val="bg1">
                    <a:lumMod val="49000"/>
                  </a:schemeClr>
                </a:solidFill>
              </a:rPr>
              <a:t>The </a:t>
            </a:r>
            <a:r>
              <a:rPr lang="en-IN" b="1">
                <a:solidFill>
                  <a:schemeClr val="bg1">
                    <a:lumMod val="49000"/>
                  </a:schemeClr>
                </a:solidFill>
              </a:rPr>
              <a:t>logical OR operator (||)</a:t>
            </a:r>
            <a:r>
              <a:rPr lang="en-IN">
                <a:solidFill>
                  <a:schemeClr val="bg1">
                    <a:lumMod val="49000"/>
                  </a:schemeClr>
                </a:solidFill>
              </a:rPr>
              <a:t> is used to combine two or more conditions.</a:t>
            </a:r>
            <a:endParaRPr lang="en-IN">
              <a:solidFill>
                <a:schemeClr val="bg1">
                  <a:lumMod val="49000"/>
                </a:schemeClr>
              </a:solidFill>
              <a:ea typeface="Calibri"/>
              <a:cs typeface="Calibri"/>
            </a:endParaRPr>
          </a:p>
          <a:p>
            <a:endParaRPr>
              <a:solidFill>
                <a:schemeClr val="bg1">
                  <a:lumMod val="49000"/>
                </a:schemeClr>
              </a:solidFill>
              <a:ea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37. What is logical NOT (!)?</a:t>
            </a:r>
            <a:endParaRPr lang="en-US"/>
          </a:p>
          <a:p>
            <a:r>
              <a:rPr lang="en-IN">
                <a:solidFill>
                  <a:schemeClr val="bg1">
                    <a:lumMod val="49000"/>
                  </a:schemeClr>
                </a:solidFill>
              </a:rPr>
              <a:t>The </a:t>
            </a:r>
            <a:r>
              <a:rPr lang="en-IN" b="1">
                <a:solidFill>
                  <a:schemeClr val="bg1">
                    <a:lumMod val="49000"/>
                  </a:schemeClr>
                </a:solidFill>
              </a:rPr>
              <a:t>logical NOT operator (!)</a:t>
            </a:r>
            <a:r>
              <a:rPr lang="en-IN">
                <a:solidFill>
                  <a:schemeClr val="bg1">
                    <a:lumMod val="49000"/>
                  </a:schemeClr>
                </a:solidFill>
              </a:rPr>
              <a:t> is used to </a:t>
            </a:r>
            <a:r>
              <a:rPr lang="en-IN" b="1">
                <a:solidFill>
                  <a:schemeClr val="bg1">
                    <a:lumMod val="49000"/>
                  </a:schemeClr>
                </a:solidFill>
              </a:rPr>
              <a:t>reverse</a:t>
            </a:r>
            <a:r>
              <a:rPr lang="en-IN">
                <a:solidFill>
                  <a:schemeClr val="bg1">
                    <a:lumMod val="49000"/>
                  </a:schemeClr>
                </a:solidFill>
              </a:rPr>
              <a:t> the result of a condition.</a:t>
            </a:r>
            <a:endParaRPr lang="en-IN">
              <a:solidFill>
                <a:schemeClr val="bg1">
                  <a:lumMod val="49000"/>
                </a:schemeClr>
              </a:solidFill>
              <a:ea typeface="Calibri"/>
              <a:cs typeface="Calibri"/>
            </a:endParaRPr>
          </a:p>
          <a:p>
            <a:endParaRPr>
              <a:solidFill>
                <a:schemeClr val="bg1">
                  <a:lumMod val="49000"/>
                </a:schemeClr>
              </a:solidFill>
              <a:ea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38. How do you check if a year is divisible by 4?</a:t>
            </a:r>
            <a:endParaRPr lang="en-US"/>
          </a:p>
          <a:p>
            <a:r>
              <a:rPr lang="en-IN">
                <a:solidFill>
                  <a:schemeClr val="bg1">
                    <a:lumMod val="49000"/>
                  </a:schemeClr>
                </a:solidFill>
              </a:rPr>
              <a:t>year % 4 == 0</a:t>
            </a:r>
            <a:endParaRPr>
              <a:solidFill>
                <a:schemeClr val="bg1">
                  <a:lumMod val="49000"/>
                </a:schemeClr>
              </a:solidFill>
              <a:ea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39. What is a leap year?</a:t>
            </a:r>
            <a:endParaRPr lang="en-US"/>
          </a:p>
          <a:p>
            <a:r>
              <a:rPr lang="en-IN">
                <a:solidFill>
                  <a:schemeClr val="bg1">
                    <a:lumMod val="49000"/>
                  </a:schemeClr>
                </a:solidFill>
              </a:rPr>
              <a:t>A </a:t>
            </a:r>
            <a:r>
              <a:rPr lang="en-IN" b="1">
                <a:solidFill>
                  <a:schemeClr val="bg1">
                    <a:lumMod val="49000"/>
                  </a:schemeClr>
                </a:solidFill>
              </a:rPr>
              <a:t>leap year</a:t>
            </a:r>
            <a:r>
              <a:rPr lang="en-IN">
                <a:solidFill>
                  <a:schemeClr val="bg1">
                    <a:lumMod val="49000"/>
                  </a:schemeClr>
                </a:solidFill>
              </a:rPr>
              <a:t> is a year that has </a:t>
            </a:r>
            <a:r>
              <a:rPr lang="en-IN" b="1">
                <a:solidFill>
                  <a:schemeClr val="bg1">
                    <a:lumMod val="49000"/>
                  </a:schemeClr>
                </a:solidFill>
              </a:rPr>
              <a:t>366 days</a:t>
            </a:r>
            <a:r>
              <a:rPr lang="en-IN">
                <a:solidFill>
                  <a:schemeClr val="bg1">
                    <a:lumMod val="49000"/>
                  </a:schemeClr>
                </a:solidFill>
              </a:rPr>
              <a:t> instead of </a:t>
            </a:r>
            <a:r>
              <a:rPr lang="en-IN" b="1">
                <a:solidFill>
                  <a:schemeClr val="bg1">
                    <a:lumMod val="49000"/>
                  </a:schemeClr>
                </a:solidFill>
              </a:rPr>
              <a:t>365 days</a:t>
            </a:r>
            <a:r>
              <a:rPr lang="en-IN">
                <a:solidFill>
                  <a:schemeClr val="bg1">
                    <a:lumMod val="49000"/>
                  </a:schemeClr>
                </a:solidFill>
              </a:rPr>
              <a:t>.</a:t>
            </a:r>
            <a:endParaRPr lang="en-IN">
              <a:solidFill>
                <a:schemeClr val="bg1">
                  <a:lumMod val="49000"/>
                </a:schemeClr>
              </a:solidFill>
              <a:ea typeface="Calibri"/>
              <a:cs typeface="Calibri"/>
            </a:endParaRPr>
          </a:p>
          <a:p>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pPr marL="0" indent="0">
              <a:buNone/>
            </a:pPr>
            <a:r>
              <a:t>40.</a:t>
            </a:r>
            <a:r>
              <a:rPr lang="en-US"/>
              <a:t> int a = 10, b = 20;</a:t>
            </a:r>
          </a:p>
          <a:p>
            <a:endParaRPr lang="en-US"/>
          </a:p>
          <a:p>
            <a:r>
              <a:rPr lang="en-US">
                <a:solidFill>
                  <a:schemeClr val="bg1">
                    <a:lumMod val="49000"/>
                  </a:schemeClr>
                </a:solidFill>
              </a:rPr>
              <a:t>if(a &gt; b)</a:t>
            </a:r>
            <a:endParaRPr lang="en-US">
              <a:solidFill>
                <a:schemeClr val="bg1">
                  <a:lumMod val="49000"/>
                </a:schemeClr>
              </a:solidFill>
              <a:ea typeface="Calibri"/>
              <a:cs typeface="Calibri"/>
            </a:endParaRPr>
          </a:p>
          <a:p>
            <a:r>
              <a:rPr lang="en-US">
                <a:solidFill>
                  <a:schemeClr val="bg1">
                    <a:lumMod val="49000"/>
                  </a:schemeClr>
                </a:solidFill>
              </a:rPr>
              <a:t>{</a:t>
            </a:r>
            <a:endParaRPr lang="en-US">
              <a:solidFill>
                <a:schemeClr val="bg1">
                  <a:lumMod val="49000"/>
                </a:schemeClr>
              </a:solidFill>
              <a:ea typeface="Calibri"/>
              <a:cs typeface="Calibri"/>
            </a:endParaRPr>
          </a:p>
          <a:p>
            <a:r>
              <a:rPr lang="en-US">
                <a:solidFill>
                  <a:schemeClr val="bg1">
                    <a:lumMod val="49000"/>
                  </a:schemeClr>
                </a:solidFill>
              </a:rPr>
              <a:t>    </a:t>
            </a:r>
            <a:r>
              <a:rPr lang="en-US" err="1">
                <a:solidFill>
                  <a:schemeClr val="bg1">
                    <a:lumMod val="49000"/>
                  </a:schemeClr>
                </a:solidFill>
              </a:rPr>
              <a:t>cout</a:t>
            </a:r>
            <a:r>
              <a:rPr lang="en-US">
                <a:solidFill>
                  <a:schemeClr val="bg1">
                    <a:lumMod val="49000"/>
                  </a:schemeClr>
                </a:solidFill>
              </a:rPr>
              <a:t> &lt;&lt; "Largest = " &lt;&lt; a;</a:t>
            </a:r>
            <a:endParaRPr lang="en-US">
              <a:solidFill>
                <a:schemeClr val="bg1">
                  <a:lumMod val="49000"/>
                </a:schemeClr>
              </a:solidFill>
              <a:ea typeface="Calibri"/>
              <a:cs typeface="Calibri"/>
            </a:endParaRPr>
          </a:p>
          <a:p>
            <a:r>
              <a:rPr lang="en-US">
                <a:solidFill>
                  <a:schemeClr val="bg1">
                    <a:lumMod val="49000"/>
                  </a:schemeClr>
                </a:solidFill>
              </a:rPr>
              <a:t>}</a:t>
            </a:r>
            <a:endParaRPr lang="en-US">
              <a:solidFill>
                <a:schemeClr val="bg1">
                  <a:lumMod val="49000"/>
                </a:schemeClr>
              </a:solidFill>
              <a:ea typeface="Calibri"/>
              <a:cs typeface="Calibri"/>
            </a:endParaRPr>
          </a:p>
          <a:p>
            <a:r>
              <a:rPr lang="en-US">
                <a:solidFill>
                  <a:schemeClr val="bg1">
                    <a:lumMod val="49000"/>
                  </a:schemeClr>
                </a:solidFill>
              </a:rPr>
              <a:t>else</a:t>
            </a:r>
            <a:endParaRPr lang="en-US">
              <a:solidFill>
                <a:schemeClr val="bg1">
                  <a:lumMod val="49000"/>
                </a:schemeClr>
              </a:solidFill>
              <a:ea typeface="Calibri"/>
              <a:cs typeface="Calibri"/>
            </a:endParaRPr>
          </a:p>
          <a:p>
            <a:r>
              <a:rPr lang="en-US">
                <a:solidFill>
                  <a:schemeClr val="bg1">
                    <a:lumMod val="49000"/>
                  </a:schemeClr>
                </a:solidFill>
              </a:rPr>
              <a:t>{</a:t>
            </a:r>
            <a:endParaRPr lang="en-US">
              <a:solidFill>
                <a:schemeClr val="bg1">
                  <a:lumMod val="49000"/>
                </a:schemeClr>
              </a:solidFill>
              <a:ea typeface="Calibri"/>
              <a:cs typeface="Calibri"/>
            </a:endParaRPr>
          </a:p>
          <a:p>
            <a:r>
              <a:rPr lang="en-US">
                <a:solidFill>
                  <a:schemeClr val="bg1">
                    <a:lumMod val="49000"/>
                  </a:schemeClr>
                </a:solidFill>
              </a:rPr>
              <a:t>    </a:t>
            </a:r>
            <a:r>
              <a:rPr lang="en-US" err="1">
                <a:solidFill>
                  <a:schemeClr val="bg1">
                    <a:lumMod val="49000"/>
                  </a:schemeClr>
                </a:solidFill>
              </a:rPr>
              <a:t>cout</a:t>
            </a:r>
            <a:r>
              <a:rPr lang="en-US">
                <a:solidFill>
                  <a:schemeClr val="bg1">
                    <a:lumMod val="49000"/>
                  </a:schemeClr>
                </a:solidFill>
              </a:rPr>
              <a:t> &lt;&lt; "Largest = " &lt;&lt; b;</a:t>
            </a:r>
            <a:endParaRPr lang="en-US">
              <a:solidFill>
                <a:schemeClr val="bg1">
                  <a:lumMod val="49000"/>
                </a:schemeClr>
              </a:solidFill>
              <a:ea typeface="Calibri"/>
              <a:cs typeface="Calibri"/>
            </a:endParaRPr>
          </a:p>
          <a:p>
            <a:r>
              <a:rPr lang="en-US">
                <a:solidFill>
                  <a:schemeClr val="bg1">
                    <a:lumMod val="49000"/>
                  </a:schemeClr>
                </a:solidFill>
              </a:rPr>
              <a:t>}</a:t>
            </a:r>
            <a:endParaRPr>
              <a:solidFill>
                <a:schemeClr val="bg1">
                  <a:lumMod val="49000"/>
                </a:schemeClr>
              </a:solidFill>
              <a:ea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fontScale="77500" lnSpcReduction="20000"/>
          </a:bodyPr>
          <a:lstStyle/>
          <a:p>
            <a:r>
              <a:t>41. How do you find the largest of two numbers?</a:t>
            </a:r>
            <a:endParaRPr lang="en-US"/>
          </a:p>
          <a:p>
            <a:r>
              <a:rPr lang="en-US">
                <a:solidFill>
                  <a:schemeClr val="accent4">
                    <a:lumMod val="60000"/>
                    <a:lumOff val="40000"/>
                  </a:schemeClr>
                </a:solidFill>
              </a:rPr>
              <a:t>int a = 10, b = 20;</a:t>
            </a:r>
          </a:p>
          <a:p>
            <a:endParaRPr lang="en-US">
              <a:solidFill>
                <a:schemeClr val="accent4">
                  <a:lumMod val="60000"/>
                  <a:lumOff val="40000"/>
                </a:schemeClr>
              </a:solidFill>
            </a:endParaRPr>
          </a:p>
          <a:p>
            <a:r>
              <a:rPr lang="en-US">
                <a:solidFill>
                  <a:schemeClr val="accent4">
                    <a:lumMod val="60000"/>
                    <a:lumOff val="40000"/>
                  </a:schemeClr>
                </a:solidFill>
              </a:rPr>
              <a:t>if(a &gt; b)</a:t>
            </a:r>
          </a:p>
          <a:p>
            <a:r>
              <a:rPr lang="en-US">
                <a:solidFill>
                  <a:schemeClr val="accent4">
                    <a:lumMod val="60000"/>
                    <a:lumOff val="40000"/>
                  </a:schemeClr>
                </a:solidFill>
              </a:rPr>
              <a:t>{</a:t>
            </a:r>
          </a:p>
          <a:p>
            <a:r>
              <a:rPr lang="en-US">
                <a:solidFill>
                  <a:schemeClr val="accent4">
                    <a:lumMod val="60000"/>
                    <a:lumOff val="40000"/>
                  </a:schemeClr>
                </a:solidFill>
              </a:rPr>
              <a:t>    </a:t>
            </a:r>
            <a:r>
              <a:rPr lang="en-US" err="1">
                <a:solidFill>
                  <a:schemeClr val="accent4">
                    <a:lumMod val="60000"/>
                    <a:lumOff val="40000"/>
                  </a:schemeClr>
                </a:solidFill>
              </a:rPr>
              <a:t>cout</a:t>
            </a:r>
            <a:r>
              <a:rPr lang="en-US">
                <a:solidFill>
                  <a:schemeClr val="accent4">
                    <a:lumMod val="60000"/>
                    <a:lumOff val="40000"/>
                  </a:schemeClr>
                </a:solidFill>
              </a:rPr>
              <a:t> &lt;&lt; "Largest = " &lt;&lt; a;</a:t>
            </a:r>
          </a:p>
          <a:p>
            <a:r>
              <a:rPr lang="en-US">
                <a:solidFill>
                  <a:schemeClr val="accent4">
                    <a:lumMod val="60000"/>
                    <a:lumOff val="40000"/>
                  </a:schemeClr>
                </a:solidFill>
              </a:rPr>
              <a:t>}</a:t>
            </a:r>
          </a:p>
          <a:p>
            <a:r>
              <a:rPr lang="en-US">
                <a:solidFill>
                  <a:schemeClr val="accent4">
                    <a:lumMod val="60000"/>
                    <a:lumOff val="40000"/>
                  </a:schemeClr>
                </a:solidFill>
              </a:rPr>
              <a:t>else</a:t>
            </a:r>
          </a:p>
          <a:p>
            <a:r>
              <a:rPr lang="en-US">
                <a:solidFill>
                  <a:schemeClr val="accent4">
                    <a:lumMod val="60000"/>
                    <a:lumOff val="40000"/>
                  </a:schemeClr>
                </a:solidFill>
              </a:rPr>
              <a:t>{</a:t>
            </a:r>
          </a:p>
          <a:p>
            <a:r>
              <a:rPr lang="en-US">
                <a:solidFill>
                  <a:schemeClr val="accent4">
                    <a:lumMod val="60000"/>
                    <a:lumOff val="40000"/>
                  </a:schemeClr>
                </a:solidFill>
              </a:rPr>
              <a:t>    </a:t>
            </a:r>
            <a:r>
              <a:rPr lang="en-US" err="1">
                <a:solidFill>
                  <a:schemeClr val="accent4">
                    <a:lumMod val="60000"/>
                    <a:lumOff val="40000"/>
                  </a:schemeClr>
                </a:solidFill>
              </a:rPr>
              <a:t>cout</a:t>
            </a:r>
            <a:r>
              <a:rPr lang="en-US">
                <a:solidFill>
                  <a:schemeClr val="accent4">
                    <a:lumMod val="60000"/>
                    <a:lumOff val="40000"/>
                  </a:schemeClr>
                </a:solidFill>
              </a:rPr>
              <a:t> &lt;&lt; "Largest = " &lt;&lt; b;</a:t>
            </a:r>
          </a:p>
          <a:p>
            <a:r>
              <a:rPr lang="en-US">
                <a:solidFill>
                  <a:schemeClr val="accent4">
                    <a:lumMod val="60000"/>
                    <a:lumOff val="40000"/>
                  </a:schemeClr>
                </a:solidFill>
              </a:rPr>
              <a:t>}</a:t>
            </a:r>
            <a:endParaRPr>
              <a:solidFill>
                <a:schemeClr val="accent4">
                  <a:lumMod val="60000"/>
                  <a:lumOff val="40000"/>
                </a:schemeClr>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fontScale="55000" lnSpcReduction="20000"/>
          </a:bodyPr>
          <a:lstStyle/>
          <a:p>
            <a:r>
              <a:t>42. How do you find the largest of three numbers?</a:t>
            </a:r>
            <a:endParaRPr lang="en-US"/>
          </a:p>
          <a:p>
            <a:r>
              <a:rPr lang="en-US">
                <a:solidFill>
                  <a:schemeClr val="accent4">
                    <a:lumMod val="60000"/>
                    <a:lumOff val="40000"/>
                  </a:schemeClr>
                </a:solidFill>
              </a:rPr>
              <a:t>int a = 10, b = 25, c = 15;</a:t>
            </a:r>
          </a:p>
          <a:p>
            <a:endParaRPr lang="en-US">
              <a:solidFill>
                <a:schemeClr val="accent4">
                  <a:lumMod val="60000"/>
                  <a:lumOff val="40000"/>
                </a:schemeClr>
              </a:solidFill>
            </a:endParaRPr>
          </a:p>
          <a:p>
            <a:r>
              <a:rPr lang="en-US">
                <a:solidFill>
                  <a:schemeClr val="accent4">
                    <a:lumMod val="60000"/>
                    <a:lumOff val="40000"/>
                  </a:schemeClr>
                </a:solidFill>
              </a:rPr>
              <a:t>if(a &gt;= b &amp;&amp; a &gt;= c)</a:t>
            </a:r>
          </a:p>
          <a:p>
            <a:r>
              <a:rPr lang="en-US">
                <a:solidFill>
                  <a:schemeClr val="accent4">
                    <a:lumMod val="60000"/>
                    <a:lumOff val="40000"/>
                  </a:schemeClr>
                </a:solidFill>
              </a:rPr>
              <a:t>{</a:t>
            </a:r>
          </a:p>
          <a:p>
            <a:r>
              <a:rPr lang="en-US">
                <a:solidFill>
                  <a:schemeClr val="accent4">
                    <a:lumMod val="60000"/>
                    <a:lumOff val="40000"/>
                  </a:schemeClr>
                </a:solidFill>
              </a:rPr>
              <a:t>    </a:t>
            </a:r>
            <a:r>
              <a:rPr lang="en-US" err="1">
                <a:solidFill>
                  <a:schemeClr val="accent4">
                    <a:lumMod val="60000"/>
                    <a:lumOff val="40000"/>
                  </a:schemeClr>
                </a:solidFill>
              </a:rPr>
              <a:t>cout</a:t>
            </a:r>
            <a:r>
              <a:rPr lang="en-US">
                <a:solidFill>
                  <a:schemeClr val="accent4">
                    <a:lumMod val="60000"/>
                    <a:lumOff val="40000"/>
                  </a:schemeClr>
                </a:solidFill>
              </a:rPr>
              <a:t> &lt;&lt; "Largest = " &lt;&lt; a;</a:t>
            </a:r>
          </a:p>
          <a:p>
            <a:r>
              <a:rPr lang="en-US">
                <a:solidFill>
                  <a:schemeClr val="accent4">
                    <a:lumMod val="60000"/>
                    <a:lumOff val="40000"/>
                  </a:schemeClr>
                </a:solidFill>
              </a:rPr>
              <a:t>}</a:t>
            </a:r>
          </a:p>
          <a:p>
            <a:r>
              <a:rPr lang="en-US">
                <a:solidFill>
                  <a:schemeClr val="accent4">
                    <a:lumMod val="60000"/>
                    <a:lumOff val="40000"/>
                  </a:schemeClr>
                </a:solidFill>
              </a:rPr>
              <a:t>else if(b &gt;= a &amp;&amp; b &gt;= c)</a:t>
            </a:r>
          </a:p>
          <a:p>
            <a:r>
              <a:rPr lang="en-US">
                <a:solidFill>
                  <a:schemeClr val="accent4">
                    <a:lumMod val="60000"/>
                    <a:lumOff val="40000"/>
                  </a:schemeClr>
                </a:solidFill>
              </a:rPr>
              <a:t>{</a:t>
            </a:r>
          </a:p>
          <a:p>
            <a:r>
              <a:rPr lang="en-US">
                <a:solidFill>
                  <a:schemeClr val="accent4">
                    <a:lumMod val="60000"/>
                    <a:lumOff val="40000"/>
                  </a:schemeClr>
                </a:solidFill>
              </a:rPr>
              <a:t>    </a:t>
            </a:r>
            <a:r>
              <a:rPr lang="en-US" err="1">
                <a:solidFill>
                  <a:schemeClr val="accent4">
                    <a:lumMod val="60000"/>
                    <a:lumOff val="40000"/>
                  </a:schemeClr>
                </a:solidFill>
              </a:rPr>
              <a:t>cout</a:t>
            </a:r>
            <a:r>
              <a:rPr lang="en-US">
                <a:solidFill>
                  <a:schemeClr val="accent4">
                    <a:lumMod val="60000"/>
                    <a:lumOff val="40000"/>
                  </a:schemeClr>
                </a:solidFill>
              </a:rPr>
              <a:t> &lt;&lt; "Largest = " &lt;&lt; b;</a:t>
            </a:r>
          </a:p>
          <a:p>
            <a:r>
              <a:rPr lang="en-US">
                <a:solidFill>
                  <a:schemeClr val="accent4">
                    <a:lumMod val="60000"/>
                    <a:lumOff val="40000"/>
                  </a:schemeClr>
                </a:solidFill>
              </a:rPr>
              <a:t>}</a:t>
            </a:r>
          </a:p>
          <a:p>
            <a:r>
              <a:rPr lang="en-US">
                <a:solidFill>
                  <a:schemeClr val="accent4">
                    <a:lumMod val="60000"/>
                    <a:lumOff val="40000"/>
                  </a:schemeClr>
                </a:solidFill>
              </a:rPr>
              <a:t>else</a:t>
            </a:r>
          </a:p>
          <a:p>
            <a:r>
              <a:rPr lang="en-US">
                <a:solidFill>
                  <a:schemeClr val="accent4">
                    <a:lumMod val="60000"/>
                    <a:lumOff val="40000"/>
                  </a:schemeClr>
                </a:solidFill>
              </a:rPr>
              <a:t>{</a:t>
            </a:r>
          </a:p>
          <a:p>
            <a:r>
              <a:rPr lang="en-US">
                <a:solidFill>
                  <a:schemeClr val="accent4">
                    <a:lumMod val="60000"/>
                    <a:lumOff val="40000"/>
                  </a:schemeClr>
                </a:solidFill>
              </a:rPr>
              <a:t>    </a:t>
            </a:r>
            <a:r>
              <a:rPr lang="en-US" err="1">
                <a:solidFill>
                  <a:schemeClr val="accent4">
                    <a:lumMod val="60000"/>
                    <a:lumOff val="40000"/>
                  </a:schemeClr>
                </a:solidFill>
              </a:rPr>
              <a:t>cout</a:t>
            </a:r>
            <a:r>
              <a:rPr lang="en-US">
                <a:solidFill>
                  <a:schemeClr val="accent4">
                    <a:lumMod val="60000"/>
                    <a:lumOff val="40000"/>
                  </a:schemeClr>
                </a:solidFill>
              </a:rPr>
              <a:t> &lt;&lt; "Largest = " &lt;&lt; c;</a:t>
            </a:r>
          </a:p>
          <a:p>
            <a:r>
              <a:rPr lang="en-US">
                <a:solidFill>
                  <a:schemeClr val="accent4">
                    <a:lumMod val="60000"/>
                    <a:lumOff val="40000"/>
                  </a:schemeClr>
                </a:solidFill>
              </a:rPr>
              <a:t>}</a:t>
            </a:r>
            <a:endParaRPr>
              <a:solidFill>
                <a:schemeClr val="accent4">
                  <a:lumMod val="60000"/>
                  <a:lumOff val="40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lnSpcReduction="10000"/>
          </a:bodyPr>
          <a:lstStyle/>
          <a:p>
            <a:r>
              <a:t>43. What is an if-else-if ladder?</a:t>
            </a:r>
            <a:endParaRPr lang="en-US"/>
          </a:p>
          <a:p>
            <a:r>
              <a:rPr lang="en-IN">
                <a:solidFill>
                  <a:schemeClr val="accent4">
                    <a:lumMod val="60000"/>
                    <a:lumOff val="40000"/>
                  </a:schemeClr>
                </a:solidFill>
              </a:rPr>
              <a:t>An </a:t>
            </a:r>
            <a:r>
              <a:rPr lang="en-IN" b="1">
                <a:solidFill>
                  <a:schemeClr val="accent4">
                    <a:lumMod val="60000"/>
                    <a:lumOff val="40000"/>
                  </a:schemeClr>
                </a:solidFill>
              </a:rPr>
              <a:t>if-else-if ladder</a:t>
            </a:r>
            <a:r>
              <a:rPr lang="en-IN">
                <a:solidFill>
                  <a:schemeClr val="accent4">
                    <a:lumMod val="60000"/>
                    <a:lumOff val="40000"/>
                  </a:schemeClr>
                </a:solidFill>
              </a:rPr>
              <a:t> is a conditional structure used to check </a:t>
            </a:r>
            <a:r>
              <a:rPr lang="en-IN" b="1">
                <a:solidFill>
                  <a:schemeClr val="accent4">
                    <a:lumMod val="60000"/>
                    <a:lumOff val="40000"/>
                  </a:schemeClr>
                </a:solidFill>
              </a:rPr>
              <a:t>multiple conditions</a:t>
            </a:r>
            <a:r>
              <a:rPr lang="en-IN">
                <a:solidFill>
                  <a:schemeClr val="accent4">
                    <a:lumMod val="60000"/>
                    <a:lumOff val="40000"/>
                  </a:schemeClr>
                </a:solidFill>
              </a:rPr>
              <a:t> one after another.</a:t>
            </a:r>
          </a:p>
          <a:p>
            <a:r>
              <a:rPr lang="en-IN">
                <a:solidFill>
                  <a:schemeClr val="accent4">
                    <a:lumMod val="60000"/>
                    <a:lumOff val="40000"/>
                  </a:schemeClr>
                </a:solidFill>
              </a:rPr>
              <a:t>If the first condition is true, its block executes. </a:t>
            </a:r>
          </a:p>
          <a:p>
            <a:r>
              <a:rPr lang="en-IN">
                <a:solidFill>
                  <a:schemeClr val="accent4">
                    <a:lumMod val="60000"/>
                    <a:lumOff val="40000"/>
                  </a:schemeClr>
                </a:solidFill>
              </a:rPr>
              <a:t>Otherwise, the next else if condition is checked. </a:t>
            </a:r>
          </a:p>
          <a:p>
            <a:r>
              <a:rPr lang="en-IN">
                <a:solidFill>
                  <a:schemeClr val="accent4">
                    <a:lumMod val="60000"/>
                    <a:lumOff val="40000"/>
                  </a:schemeClr>
                </a:solidFill>
              </a:rPr>
              <a:t>If none of the conditions are true, the else block executes. </a:t>
            </a:r>
          </a:p>
          <a:p>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44. What is the difference between if and switch?</a:t>
            </a:r>
            <a:endParaRPr lang="en-US"/>
          </a:p>
          <a:p>
            <a:r>
              <a:rPr lang="en-IN" b="1">
                <a:solidFill>
                  <a:schemeClr val="accent4">
                    <a:lumMod val="60000"/>
                    <a:lumOff val="40000"/>
                  </a:schemeClr>
                </a:solidFill>
              </a:rPr>
              <a:t>The if statement is used to test complex conditions and ranges, while the switch statement is used to select one block of code from multiple constant choices. if is more flexible, whereas switch is more organized for many fixed options.</a:t>
            </a:r>
            <a:endParaRPr lang="en-IN">
              <a:solidFill>
                <a:schemeClr val="accent4">
                  <a:lumMod val="60000"/>
                  <a:lumOff val="40000"/>
                </a:schemeClr>
              </a:solidFill>
            </a:endParaRPr>
          </a:p>
          <a:p>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45. Can switch use ranges directly?</a:t>
            </a:r>
            <a:endParaRPr lang="en-US"/>
          </a:p>
          <a:p>
            <a:r>
              <a:rPr lang="en-IN" b="1">
                <a:solidFill>
                  <a:schemeClr val="accent4">
                    <a:lumMod val="60000"/>
                    <a:lumOff val="40000"/>
                  </a:schemeClr>
                </a:solidFill>
              </a:rPr>
              <a:t>No</a:t>
            </a:r>
            <a:r>
              <a:rPr lang="en-IN">
                <a:solidFill>
                  <a:schemeClr val="accent4">
                    <a:lumMod val="60000"/>
                    <a:lumOff val="40000"/>
                  </a:schemeClr>
                </a:solidFill>
              </a:rPr>
              <a:t>, a switch statement in C/C++ cannot directly use ranges such as 1-10 or 50-100.</a:t>
            </a:r>
          </a:p>
          <a:p>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46. What is fall-through in switch?</a:t>
            </a:r>
            <a:endParaRPr lang="en-US"/>
          </a:p>
          <a:p>
            <a:r>
              <a:rPr lang="en-IN" b="1">
                <a:solidFill>
                  <a:schemeClr val="accent4">
                    <a:lumMod val="60000"/>
                    <a:lumOff val="40000"/>
                  </a:schemeClr>
                </a:solidFill>
              </a:rPr>
              <a:t>Fall-through</a:t>
            </a:r>
            <a:r>
              <a:rPr lang="en-IN">
                <a:solidFill>
                  <a:schemeClr val="accent4">
                    <a:lumMod val="60000"/>
                    <a:lumOff val="40000"/>
                  </a:schemeClr>
                </a:solidFill>
              </a:rPr>
              <a:t> occurs when a case in a switch statement does </a:t>
            </a:r>
            <a:r>
              <a:rPr lang="en-IN" b="1">
                <a:solidFill>
                  <a:schemeClr val="accent4">
                    <a:lumMod val="60000"/>
                    <a:lumOff val="40000"/>
                  </a:schemeClr>
                </a:solidFill>
              </a:rPr>
              <a:t>not have a break statement</a:t>
            </a:r>
            <a:r>
              <a:rPr lang="en-IN">
                <a:solidFill>
                  <a:schemeClr val="accent4">
                    <a:lumMod val="60000"/>
                    <a:lumOff val="40000"/>
                  </a:schemeClr>
                </a:solidFill>
              </a:rPr>
              <a:t>. The program continues executing the next case(s) even if their labels do not match.</a:t>
            </a:r>
          </a:p>
          <a:p>
            <a:endParaRPr>
              <a:solidFill>
                <a:schemeClr val="accent4">
                  <a:lumMod val="60000"/>
                  <a:lumOff val="40000"/>
                </a:schemeClr>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47. What data type is usually used for conditions?</a:t>
            </a:r>
            <a:endParaRPr lang="en-US"/>
          </a:p>
          <a:p>
            <a:r>
              <a:rPr lang="en-IN">
                <a:solidFill>
                  <a:schemeClr val="accent4">
                    <a:lumMod val="60000"/>
                    <a:lumOff val="40000"/>
                  </a:schemeClr>
                </a:solidFill>
              </a:rPr>
              <a:t>The </a:t>
            </a:r>
            <a:r>
              <a:rPr lang="en-IN" b="1">
                <a:solidFill>
                  <a:schemeClr val="accent4">
                    <a:lumMod val="60000"/>
                    <a:lumOff val="40000"/>
                  </a:schemeClr>
                </a:solidFill>
              </a:rPr>
              <a:t>Boolean (bool)</a:t>
            </a:r>
            <a:r>
              <a:rPr lang="en-IN">
                <a:solidFill>
                  <a:schemeClr val="accent4">
                    <a:lumMod val="60000"/>
                    <a:lumOff val="40000"/>
                  </a:schemeClr>
                </a:solidFill>
              </a:rPr>
              <a:t> data type is usually used for conditions in C++.</a:t>
            </a:r>
          </a:p>
          <a:p>
            <a:r>
              <a:rPr lang="en-IN">
                <a:solidFill>
                  <a:schemeClr val="accent4">
                    <a:lumMod val="60000"/>
                    <a:lumOff val="40000"/>
                  </a:schemeClr>
                </a:solidFill>
              </a:rPr>
              <a:t>A Boolean value can have only two values:</a:t>
            </a:r>
          </a:p>
          <a:p>
            <a:r>
              <a:rPr lang="en-IN">
                <a:solidFill>
                  <a:schemeClr val="accent4">
                    <a:lumMod val="60000"/>
                    <a:lumOff val="40000"/>
                  </a:schemeClr>
                </a:solidFill>
              </a:rPr>
              <a:t>true </a:t>
            </a:r>
          </a:p>
          <a:p>
            <a:r>
              <a:rPr lang="en-IN">
                <a:solidFill>
                  <a:schemeClr val="accent4">
                    <a:lumMod val="60000"/>
                    <a:lumOff val="40000"/>
                  </a:schemeClr>
                </a:solidFill>
              </a:rPr>
              <a:t>false </a:t>
            </a:r>
          </a:p>
          <a:p>
            <a:endParaRPr>
              <a:solidFill>
                <a:schemeClr val="accent4">
                  <a:lumMod val="60000"/>
                  <a:lumOff val="40000"/>
                </a:scheme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48. Why are conditional statements important?</a:t>
            </a:r>
            <a:endParaRPr lang="en-US"/>
          </a:p>
          <a:p>
            <a:r>
              <a:rPr lang="en-IN">
                <a:solidFill>
                  <a:schemeClr val="accent4">
                    <a:lumMod val="60000"/>
                    <a:lumOff val="40000"/>
                  </a:schemeClr>
                </a:solidFill>
              </a:rPr>
              <a:t>Conditional statements are important because they allow a program to </a:t>
            </a:r>
            <a:r>
              <a:rPr lang="en-IN" b="1">
                <a:solidFill>
                  <a:schemeClr val="accent4">
                    <a:lumMod val="60000"/>
                    <a:lumOff val="40000"/>
                  </a:schemeClr>
                </a:solidFill>
              </a:rPr>
              <a:t>make decisions</a:t>
            </a:r>
            <a:r>
              <a:rPr lang="en-IN">
                <a:solidFill>
                  <a:schemeClr val="accent4">
                    <a:lumMod val="60000"/>
                    <a:lumOff val="40000"/>
                  </a:schemeClr>
                </a:solidFill>
              </a:rPr>
              <a:t> and perform different actions based on different conditions.</a:t>
            </a:r>
          </a:p>
          <a:p>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49. Give one real-life example of a conditional statement.</a:t>
            </a:r>
            <a:endParaRPr lang="en-US">
              <a:ea typeface="+mn-lt"/>
              <a:cs typeface="+mn-lt"/>
            </a:endParaRPr>
          </a:p>
          <a:p>
            <a:r>
              <a:rPr lang="en-US">
                <a:solidFill>
                  <a:schemeClr val="accent4">
                    <a:lumMod val="40000"/>
                    <a:lumOff val="60000"/>
                  </a:schemeClr>
                </a:solidFill>
                <a:ea typeface="+mn-lt"/>
                <a:cs typeface="+mn-lt"/>
              </a:rPr>
              <a:t>A real-life example of a </a:t>
            </a:r>
            <a:r>
              <a:rPr lang="en-US" b="1">
                <a:solidFill>
                  <a:schemeClr val="accent4">
                    <a:lumMod val="40000"/>
                    <a:lumOff val="60000"/>
                  </a:schemeClr>
                </a:solidFill>
                <a:ea typeface="+mn-lt"/>
                <a:cs typeface="+mn-lt"/>
              </a:rPr>
              <a:t>conditional statement</a:t>
            </a:r>
            <a:r>
              <a:rPr lang="en-US">
                <a:solidFill>
                  <a:schemeClr val="accent4">
                    <a:lumMod val="40000"/>
                    <a:lumOff val="60000"/>
                  </a:schemeClr>
                </a:solidFill>
                <a:ea typeface="+mn-lt"/>
                <a:cs typeface="+mn-lt"/>
              </a:rPr>
              <a:t> is:</a:t>
            </a:r>
            <a:endParaRPr lang="en-US">
              <a:solidFill>
                <a:schemeClr val="accent4">
                  <a:lumMod val="40000"/>
                  <a:lumOff val="60000"/>
                </a:schemeClr>
              </a:solidFill>
              <a:ea typeface="Calibri"/>
              <a:cs typeface="Calibri"/>
            </a:endParaRPr>
          </a:p>
          <a:p>
            <a:r>
              <a:rPr lang="en-US" b="1">
                <a:solidFill>
                  <a:schemeClr val="accent4">
                    <a:lumMod val="40000"/>
                    <a:lumOff val="60000"/>
                  </a:schemeClr>
                </a:solidFill>
                <a:ea typeface="+mn-lt"/>
                <a:cs typeface="+mn-lt"/>
              </a:rPr>
              <a:t>If it rains, then I will carry an umbrella.</a:t>
            </a:r>
            <a:endParaRPr lang="en-US">
              <a:solidFill>
                <a:schemeClr val="accent4">
                  <a:lumMod val="40000"/>
                  <a:lumOff val="60000"/>
                </a:schemeClr>
              </a:solidFill>
              <a:ea typeface="Calibri"/>
              <a:cs typeface="Calibri"/>
            </a:endParaRPr>
          </a:p>
          <a:p>
            <a:r>
              <a:rPr lang="en-US" b="1">
                <a:solidFill>
                  <a:schemeClr val="accent4">
                    <a:lumMod val="40000"/>
                    <a:lumOff val="60000"/>
                  </a:schemeClr>
                </a:solidFill>
                <a:ea typeface="+mn-lt"/>
                <a:cs typeface="+mn-lt"/>
              </a:rPr>
              <a:t>Condition:</a:t>
            </a:r>
            <a:r>
              <a:rPr lang="en-US">
                <a:solidFill>
                  <a:schemeClr val="accent4">
                    <a:lumMod val="40000"/>
                    <a:lumOff val="60000"/>
                  </a:schemeClr>
                </a:solidFill>
                <a:ea typeface="+mn-lt"/>
                <a:cs typeface="+mn-lt"/>
              </a:rPr>
              <a:t> It rains. </a:t>
            </a:r>
            <a:endParaRPr lang="en-US">
              <a:solidFill>
                <a:schemeClr val="accent4">
                  <a:lumMod val="40000"/>
                  <a:lumOff val="60000"/>
                </a:schemeClr>
              </a:solidFill>
              <a:ea typeface="Calibri"/>
              <a:cs typeface="Calibri"/>
            </a:endParaRPr>
          </a:p>
          <a:p>
            <a:r>
              <a:rPr lang="en-US" b="1">
                <a:solidFill>
                  <a:schemeClr val="accent4">
                    <a:lumMod val="40000"/>
                    <a:lumOff val="60000"/>
                  </a:schemeClr>
                </a:solidFill>
                <a:ea typeface="+mn-lt"/>
                <a:cs typeface="+mn-lt"/>
              </a:rPr>
              <a:t>Action/Result:</a:t>
            </a:r>
            <a:r>
              <a:rPr lang="en-US">
                <a:solidFill>
                  <a:schemeClr val="accent4">
                    <a:lumMod val="40000"/>
                    <a:lumOff val="60000"/>
                  </a:schemeClr>
                </a:solidFill>
                <a:ea typeface="+mn-lt"/>
                <a:cs typeface="+mn-lt"/>
              </a:rPr>
              <a:t> I will carry an umbrella.</a:t>
            </a:r>
            <a:endParaRPr lang="en-US">
              <a:solidFill>
                <a:schemeClr val="accent4">
                  <a:lumMod val="40000"/>
                  <a:lumOff val="60000"/>
                </a:schemeClr>
              </a:solidFill>
              <a:ea typeface="Calibri"/>
              <a:cs typeface="Calibri"/>
            </a:endParaRPr>
          </a:p>
          <a:p>
            <a:endParaRPr>
              <a:solidFill>
                <a:schemeClr val="accent4">
                  <a:lumMod val="40000"/>
                  <a:lumOff val="60000"/>
                </a:schemeClr>
              </a:solidFill>
              <a:ea typeface="Calibri"/>
              <a:cs typeface="Calibri"/>
            </a:endParaRPr>
          </a:p>
          <a:p>
            <a:endParaRPr lang="en-US">
              <a:ea typeface="Calibri"/>
              <a:cs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50. Name four conditional structures covered</a:t>
            </a:r>
            <a:r>
              <a:rPr lang="en-US"/>
              <a:t>.</a:t>
            </a:r>
            <a:r>
              <a:t> </a:t>
            </a:r>
            <a:endParaRPr lang="en-US"/>
          </a:p>
          <a:p>
            <a:r>
              <a:rPr lang="en-IN" b="1">
                <a:solidFill>
                  <a:schemeClr val="accent4">
                    <a:lumMod val="60000"/>
                    <a:lumOff val="40000"/>
                  </a:schemeClr>
                </a:solidFill>
              </a:rPr>
              <a:t>The four conditional structures covered in C/C++ are:</a:t>
            </a:r>
            <a:endParaRPr lang="en-IN">
              <a:solidFill>
                <a:schemeClr val="accent4">
                  <a:lumMod val="60000"/>
                  <a:lumOff val="40000"/>
                </a:schemeClr>
              </a:solidFill>
            </a:endParaRPr>
          </a:p>
          <a:p>
            <a:r>
              <a:rPr lang="en-IN">
                <a:solidFill>
                  <a:schemeClr val="accent4">
                    <a:lumMod val="60000"/>
                    <a:lumOff val="40000"/>
                  </a:schemeClr>
                </a:solidFill>
              </a:rPr>
              <a:t>Simple if </a:t>
            </a:r>
          </a:p>
          <a:p>
            <a:r>
              <a:rPr lang="en-IN">
                <a:solidFill>
                  <a:schemeClr val="accent4">
                    <a:lumMod val="60000"/>
                    <a:lumOff val="40000"/>
                  </a:schemeClr>
                </a:solidFill>
              </a:rPr>
              <a:t>if-else </a:t>
            </a:r>
          </a:p>
          <a:p>
            <a:r>
              <a:rPr lang="en-IN">
                <a:solidFill>
                  <a:schemeClr val="accent4">
                    <a:lumMod val="60000"/>
                    <a:lumOff val="40000"/>
                  </a:schemeClr>
                </a:solidFill>
              </a:rPr>
              <a:t>if-else-if ladder </a:t>
            </a:r>
          </a:p>
          <a:p>
            <a:r>
              <a:rPr lang="en-IN">
                <a:solidFill>
                  <a:schemeClr val="accent4">
                    <a:lumMod val="60000"/>
                    <a:lumOff val="40000"/>
                  </a:schemeClr>
                </a:solidFill>
              </a:rPr>
              <a:t>switch statement </a:t>
            </a:r>
          </a:p>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50</Slides>
  <Notes>0</Notes>
  <HiddenSlides>0</HiddenSlide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Question</dc:title>
  <dc:subject/>
  <dc:creator/>
  <cp:keywords/>
  <dc:description>generated using python-pptx</dc:description>
  <cp:revision>2</cp:revision>
  <dcterms:created xsi:type="dcterms:W3CDTF">2013-01-27T09:14:16Z</dcterms:created>
  <dcterms:modified xsi:type="dcterms:W3CDTF">2026-06-17T04:53:52Z</dcterms:modified>
  <cp:category/>
</cp:coreProperties>
</file>